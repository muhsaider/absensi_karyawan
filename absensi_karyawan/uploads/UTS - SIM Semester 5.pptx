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Open Sans" panose="020B0606030504020204" pitchFamily="34" charset="0"/>
      <p:regular r:id="rId16"/>
    </p:embeddedFont>
    <p:embeddedFont>
      <p:font typeface="Playpen Sans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3" d="100"/>
          <a:sy n="43" d="100"/>
        </p:scale>
        <p:origin x="1044"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1.png"/><Relationship Id="rId4" Type="http://schemas.openxmlformats.org/officeDocument/2006/relationships/image" Target="../media/image3.pn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10.png"/></Relationships>
</file>

<file path=ppt/slides/_rels/slide10.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10.png"/></Relationships>
</file>

<file path=ppt/slides/_rels/slide11.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6.png"/><Relationship Id="rId3" Type="http://schemas.openxmlformats.org/officeDocument/2006/relationships/image" Target="../media/image5.png"/><Relationship Id="rId7" Type="http://schemas.openxmlformats.org/officeDocument/2006/relationships/image" Target="../media/image8.png"/><Relationship Id="rId12"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14.png"/><Relationship Id="rId5" Type="http://schemas.openxmlformats.org/officeDocument/2006/relationships/image" Target="../media/image3.png"/><Relationship Id="rId10" Type="http://schemas.openxmlformats.org/officeDocument/2006/relationships/image" Target="../media/image13.png"/><Relationship Id="rId4" Type="http://schemas.openxmlformats.org/officeDocument/2006/relationships/image" Target="../media/image2.png"/><Relationship Id="rId9" Type="http://schemas.openxmlformats.org/officeDocument/2006/relationships/image" Target="../media/image10.png"/></Relationships>
</file>

<file path=ppt/slides/_rels/slide1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10.png"/></Relationships>
</file>

<file path=ppt/slides/_rels/slide1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10.png"/></Relationships>
</file>

<file path=ppt/slides/_rels/slide1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8710" t="-55975" r="-1305" b="-17361"/>
            </a:stretch>
          </a:blipFill>
        </p:spPr>
      </p:sp>
      <p:sp>
        <p:nvSpPr>
          <p:cNvPr id="3" name="Freeform 3"/>
          <p:cNvSpPr/>
          <p:nvPr/>
        </p:nvSpPr>
        <p:spPr>
          <a:xfrm>
            <a:off x="-430279" y="1028700"/>
            <a:ext cx="4657861" cy="4698977"/>
          </a:xfrm>
          <a:custGeom>
            <a:avLst/>
            <a:gdLst/>
            <a:ahLst/>
            <a:cxnLst/>
            <a:rect l="l" t="t" r="r" b="b"/>
            <a:pathLst>
              <a:path w="4657861" h="4698977">
                <a:moveTo>
                  <a:pt x="0" y="0"/>
                </a:moveTo>
                <a:lnTo>
                  <a:pt x="4657861" y="0"/>
                </a:lnTo>
                <a:lnTo>
                  <a:pt x="4657861" y="4698977"/>
                </a:lnTo>
                <a:lnTo>
                  <a:pt x="0" y="4698977"/>
                </a:lnTo>
                <a:lnTo>
                  <a:pt x="0" y="0"/>
                </a:lnTo>
                <a:close/>
              </a:path>
            </a:pathLst>
          </a:custGeom>
          <a:blipFill>
            <a:blip r:embed="rId3"/>
            <a:stretch>
              <a:fillRect/>
            </a:stretch>
          </a:blipFill>
        </p:spPr>
      </p:sp>
      <p:sp>
        <p:nvSpPr>
          <p:cNvPr id="4" name="Freeform 4"/>
          <p:cNvSpPr/>
          <p:nvPr/>
        </p:nvSpPr>
        <p:spPr>
          <a:xfrm>
            <a:off x="14828873" y="3231435"/>
            <a:ext cx="4526280" cy="8229600"/>
          </a:xfrm>
          <a:custGeom>
            <a:avLst/>
            <a:gdLst/>
            <a:ahLst/>
            <a:cxnLst/>
            <a:rect l="l" t="t" r="r" b="b"/>
            <a:pathLst>
              <a:path w="4526280" h="8229600">
                <a:moveTo>
                  <a:pt x="0" y="0"/>
                </a:moveTo>
                <a:lnTo>
                  <a:pt x="4526280" y="0"/>
                </a:lnTo>
                <a:lnTo>
                  <a:pt x="4526280" y="8229600"/>
                </a:lnTo>
                <a:lnTo>
                  <a:pt x="0" y="8229600"/>
                </a:lnTo>
                <a:lnTo>
                  <a:pt x="0" y="0"/>
                </a:lnTo>
                <a:close/>
              </a:path>
            </a:pathLst>
          </a:custGeom>
          <a:blipFill>
            <a:blip r:embed="rId4"/>
            <a:stretch>
              <a:fillRect/>
            </a:stretch>
          </a:blipFill>
        </p:spPr>
      </p:sp>
      <p:sp>
        <p:nvSpPr>
          <p:cNvPr id="5" name="Freeform 5"/>
          <p:cNvSpPr/>
          <p:nvPr/>
        </p:nvSpPr>
        <p:spPr>
          <a:xfrm rot="-4734906" flipH="1">
            <a:off x="-705197" y="-1154170"/>
            <a:ext cx="4662690" cy="3765122"/>
          </a:xfrm>
          <a:custGeom>
            <a:avLst/>
            <a:gdLst/>
            <a:ahLst/>
            <a:cxnLst/>
            <a:rect l="l" t="t" r="r" b="b"/>
            <a:pathLst>
              <a:path w="4662690" h="3765122">
                <a:moveTo>
                  <a:pt x="4662690" y="0"/>
                </a:moveTo>
                <a:lnTo>
                  <a:pt x="0" y="0"/>
                </a:lnTo>
                <a:lnTo>
                  <a:pt x="0" y="3765122"/>
                </a:lnTo>
                <a:lnTo>
                  <a:pt x="4662690" y="3765122"/>
                </a:lnTo>
                <a:lnTo>
                  <a:pt x="4662690" y="0"/>
                </a:lnTo>
                <a:close/>
              </a:path>
            </a:pathLst>
          </a:custGeom>
          <a:blipFill>
            <a:blip r:embed="rId5"/>
            <a:stretch>
              <a:fillRect/>
            </a:stretch>
          </a:blipFill>
        </p:spPr>
      </p:sp>
      <p:sp>
        <p:nvSpPr>
          <p:cNvPr id="6" name="Freeform 6"/>
          <p:cNvSpPr/>
          <p:nvPr/>
        </p:nvSpPr>
        <p:spPr>
          <a:xfrm>
            <a:off x="15470186" y="0"/>
            <a:ext cx="3578229" cy="7346235"/>
          </a:xfrm>
          <a:custGeom>
            <a:avLst/>
            <a:gdLst/>
            <a:ahLst/>
            <a:cxnLst/>
            <a:rect l="l" t="t" r="r" b="b"/>
            <a:pathLst>
              <a:path w="3578229" h="7346235">
                <a:moveTo>
                  <a:pt x="0" y="0"/>
                </a:moveTo>
                <a:lnTo>
                  <a:pt x="3578228" y="0"/>
                </a:lnTo>
                <a:lnTo>
                  <a:pt x="3578228" y="7346235"/>
                </a:lnTo>
                <a:lnTo>
                  <a:pt x="0" y="7346235"/>
                </a:lnTo>
                <a:lnTo>
                  <a:pt x="0" y="0"/>
                </a:lnTo>
                <a:close/>
              </a:path>
            </a:pathLst>
          </a:custGeom>
          <a:blipFill>
            <a:blip r:embed="rId6"/>
            <a:stretch>
              <a:fillRect/>
            </a:stretch>
          </a:blipFill>
        </p:spPr>
      </p:sp>
      <p:sp>
        <p:nvSpPr>
          <p:cNvPr id="7" name="Freeform 7"/>
          <p:cNvSpPr/>
          <p:nvPr/>
        </p:nvSpPr>
        <p:spPr>
          <a:xfrm rot="-10045849">
            <a:off x="13141255" y="7471385"/>
            <a:ext cx="4657861" cy="4698977"/>
          </a:xfrm>
          <a:custGeom>
            <a:avLst/>
            <a:gdLst/>
            <a:ahLst/>
            <a:cxnLst/>
            <a:rect l="l" t="t" r="r" b="b"/>
            <a:pathLst>
              <a:path w="4657861" h="4698977">
                <a:moveTo>
                  <a:pt x="0" y="0"/>
                </a:moveTo>
                <a:lnTo>
                  <a:pt x="4657861" y="0"/>
                </a:lnTo>
                <a:lnTo>
                  <a:pt x="4657861" y="4698977"/>
                </a:lnTo>
                <a:lnTo>
                  <a:pt x="0" y="4698977"/>
                </a:lnTo>
                <a:lnTo>
                  <a:pt x="0" y="0"/>
                </a:lnTo>
                <a:close/>
              </a:path>
            </a:pathLst>
          </a:custGeom>
          <a:blipFill>
            <a:blip r:embed="rId3"/>
            <a:stretch>
              <a:fillRect/>
            </a:stretch>
          </a:blipFill>
        </p:spPr>
      </p:sp>
      <p:sp>
        <p:nvSpPr>
          <p:cNvPr id="8" name="Freeform 8"/>
          <p:cNvSpPr/>
          <p:nvPr/>
        </p:nvSpPr>
        <p:spPr>
          <a:xfrm rot="8664082" flipH="1">
            <a:off x="-2612428" y="2843684"/>
            <a:ext cx="3578229" cy="7346235"/>
          </a:xfrm>
          <a:custGeom>
            <a:avLst/>
            <a:gdLst/>
            <a:ahLst/>
            <a:cxnLst/>
            <a:rect l="l" t="t" r="r" b="b"/>
            <a:pathLst>
              <a:path w="3578229" h="7346235">
                <a:moveTo>
                  <a:pt x="3578229" y="0"/>
                </a:moveTo>
                <a:lnTo>
                  <a:pt x="0" y="0"/>
                </a:lnTo>
                <a:lnTo>
                  <a:pt x="0" y="7346235"/>
                </a:lnTo>
                <a:lnTo>
                  <a:pt x="3578229" y="7346235"/>
                </a:lnTo>
                <a:lnTo>
                  <a:pt x="3578229" y="0"/>
                </a:lnTo>
                <a:close/>
              </a:path>
            </a:pathLst>
          </a:custGeom>
          <a:blipFill>
            <a:blip r:embed="rId6"/>
            <a:stretch>
              <a:fillRect/>
            </a:stretch>
          </a:blipFill>
        </p:spPr>
      </p:sp>
      <p:sp>
        <p:nvSpPr>
          <p:cNvPr id="9" name="Freeform 9"/>
          <p:cNvSpPr/>
          <p:nvPr/>
        </p:nvSpPr>
        <p:spPr>
          <a:xfrm>
            <a:off x="4025059" y="1366588"/>
            <a:ext cx="1605499" cy="1605499"/>
          </a:xfrm>
          <a:custGeom>
            <a:avLst/>
            <a:gdLst/>
            <a:ahLst/>
            <a:cxnLst/>
            <a:rect l="l" t="t" r="r" b="b"/>
            <a:pathLst>
              <a:path w="1605499" h="1605499">
                <a:moveTo>
                  <a:pt x="0" y="0"/>
                </a:moveTo>
                <a:lnTo>
                  <a:pt x="1605499" y="0"/>
                </a:lnTo>
                <a:lnTo>
                  <a:pt x="1605499" y="1605499"/>
                </a:lnTo>
                <a:lnTo>
                  <a:pt x="0" y="160549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Freeform 10"/>
          <p:cNvSpPr/>
          <p:nvPr/>
        </p:nvSpPr>
        <p:spPr>
          <a:xfrm>
            <a:off x="14589727" y="7035307"/>
            <a:ext cx="1408932" cy="1408932"/>
          </a:xfrm>
          <a:custGeom>
            <a:avLst/>
            <a:gdLst/>
            <a:ahLst/>
            <a:cxnLst/>
            <a:rect l="l" t="t" r="r" b="b"/>
            <a:pathLst>
              <a:path w="1408932" h="1408932">
                <a:moveTo>
                  <a:pt x="0" y="0"/>
                </a:moveTo>
                <a:lnTo>
                  <a:pt x="1408933" y="0"/>
                </a:lnTo>
                <a:lnTo>
                  <a:pt x="1408933" y="1408932"/>
                </a:lnTo>
                <a:lnTo>
                  <a:pt x="0" y="140893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1" name="Freeform 11"/>
          <p:cNvSpPr/>
          <p:nvPr/>
        </p:nvSpPr>
        <p:spPr>
          <a:xfrm>
            <a:off x="15998660" y="6516801"/>
            <a:ext cx="630244" cy="630244"/>
          </a:xfrm>
          <a:custGeom>
            <a:avLst/>
            <a:gdLst/>
            <a:ahLst/>
            <a:cxnLst/>
            <a:rect l="l" t="t" r="r" b="b"/>
            <a:pathLst>
              <a:path w="630244" h="630244">
                <a:moveTo>
                  <a:pt x="0" y="0"/>
                </a:moveTo>
                <a:lnTo>
                  <a:pt x="630243" y="0"/>
                </a:lnTo>
                <a:lnTo>
                  <a:pt x="630243" y="630244"/>
                </a:lnTo>
                <a:lnTo>
                  <a:pt x="0" y="63024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2" name="Freeform 12"/>
          <p:cNvSpPr/>
          <p:nvPr/>
        </p:nvSpPr>
        <p:spPr>
          <a:xfrm>
            <a:off x="3246042" y="728391"/>
            <a:ext cx="675776" cy="675776"/>
          </a:xfrm>
          <a:custGeom>
            <a:avLst/>
            <a:gdLst/>
            <a:ahLst/>
            <a:cxnLst/>
            <a:rect l="l" t="t" r="r" b="b"/>
            <a:pathLst>
              <a:path w="675776" h="675776">
                <a:moveTo>
                  <a:pt x="0" y="0"/>
                </a:moveTo>
                <a:lnTo>
                  <a:pt x="675777" y="0"/>
                </a:lnTo>
                <a:lnTo>
                  <a:pt x="675777" y="675777"/>
                </a:lnTo>
                <a:lnTo>
                  <a:pt x="0" y="67577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3" name="Freeform 13"/>
          <p:cNvSpPr/>
          <p:nvPr/>
        </p:nvSpPr>
        <p:spPr>
          <a:xfrm rot="1196209">
            <a:off x="12078420" y="1368067"/>
            <a:ext cx="4176366" cy="2414817"/>
          </a:xfrm>
          <a:custGeom>
            <a:avLst/>
            <a:gdLst/>
            <a:ahLst/>
            <a:cxnLst/>
            <a:rect l="l" t="t" r="r" b="b"/>
            <a:pathLst>
              <a:path w="4176366" h="2414817">
                <a:moveTo>
                  <a:pt x="0" y="0"/>
                </a:moveTo>
                <a:lnTo>
                  <a:pt x="4176366" y="0"/>
                </a:lnTo>
                <a:lnTo>
                  <a:pt x="4176366" y="2414817"/>
                </a:lnTo>
                <a:lnTo>
                  <a:pt x="0" y="2414817"/>
                </a:lnTo>
                <a:lnTo>
                  <a:pt x="0" y="0"/>
                </a:lnTo>
                <a:close/>
              </a:path>
            </a:pathLst>
          </a:custGeom>
          <a:blipFill>
            <a:blip r:embed="rId11"/>
            <a:stretch>
              <a:fillRect b="-51329"/>
            </a:stretch>
          </a:blipFill>
        </p:spPr>
      </p:sp>
      <p:sp>
        <p:nvSpPr>
          <p:cNvPr id="14" name="Freeform 14"/>
          <p:cNvSpPr/>
          <p:nvPr/>
        </p:nvSpPr>
        <p:spPr>
          <a:xfrm rot="2923274" flipV="1">
            <a:off x="1943673" y="7123660"/>
            <a:ext cx="4567819" cy="2641159"/>
          </a:xfrm>
          <a:custGeom>
            <a:avLst/>
            <a:gdLst/>
            <a:ahLst/>
            <a:cxnLst/>
            <a:rect l="l" t="t" r="r" b="b"/>
            <a:pathLst>
              <a:path w="4567819" h="2641159">
                <a:moveTo>
                  <a:pt x="0" y="2641159"/>
                </a:moveTo>
                <a:lnTo>
                  <a:pt x="4567818" y="2641159"/>
                </a:lnTo>
                <a:lnTo>
                  <a:pt x="4567818" y="0"/>
                </a:lnTo>
                <a:lnTo>
                  <a:pt x="0" y="0"/>
                </a:lnTo>
                <a:lnTo>
                  <a:pt x="0" y="2641159"/>
                </a:lnTo>
                <a:close/>
              </a:path>
            </a:pathLst>
          </a:custGeom>
          <a:blipFill>
            <a:blip r:embed="rId11"/>
            <a:stretch>
              <a:fillRect b="-51329"/>
            </a:stretch>
          </a:blipFill>
        </p:spPr>
      </p:sp>
      <p:sp>
        <p:nvSpPr>
          <p:cNvPr id="15" name="TextBox 15"/>
          <p:cNvSpPr txBox="1"/>
          <p:nvPr/>
        </p:nvSpPr>
        <p:spPr>
          <a:xfrm>
            <a:off x="4271895" y="2844007"/>
            <a:ext cx="9054659" cy="3906539"/>
          </a:xfrm>
          <a:prstGeom prst="rect">
            <a:avLst/>
          </a:prstGeom>
        </p:spPr>
        <p:txBody>
          <a:bodyPr lIns="0" tIns="0" rIns="0" bIns="0" rtlCol="0" anchor="t">
            <a:spAutoFit/>
          </a:bodyPr>
          <a:lstStyle/>
          <a:p>
            <a:pPr algn="ctr">
              <a:lnSpc>
                <a:spcPts val="7628"/>
              </a:lnSpc>
            </a:pPr>
            <a:r>
              <a:rPr lang="en-US" sz="7334" b="1">
                <a:solidFill>
                  <a:srgbClr val="FFFFFF"/>
                </a:solidFill>
                <a:latin typeface="Playpen Sans Bold"/>
                <a:ea typeface="Playpen Sans Bold"/>
                <a:cs typeface="Playpen Sans Bold"/>
                <a:sym typeface="Playpen Sans Bold"/>
              </a:rPr>
              <a:t>Perancangan Website Karyawan PT. Kaldu Sari Nabati</a:t>
            </a:r>
          </a:p>
        </p:txBody>
      </p:sp>
      <p:sp>
        <p:nvSpPr>
          <p:cNvPr id="16" name="TextBox 16"/>
          <p:cNvSpPr txBox="1"/>
          <p:nvPr/>
        </p:nvSpPr>
        <p:spPr>
          <a:xfrm>
            <a:off x="3246042" y="7166095"/>
            <a:ext cx="11417026" cy="656850"/>
          </a:xfrm>
          <a:prstGeom prst="rect">
            <a:avLst/>
          </a:prstGeom>
        </p:spPr>
        <p:txBody>
          <a:bodyPr lIns="0" tIns="0" rIns="0" bIns="0" rtlCol="0" anchor="t">
            <a:spAutoFit/>
          </a:bodyPr>
          <a:lstStyle/>
          <a:p>
            <a:pPr algn="ctr">
              <a:lnSpc>
                <a:spcPts val="5107"/>
              </a:lnSpc>
            </a:pPr>
            <a:r>
              <a:rPr lang="en-US" sz="4441" b="1">
                <a:solidFill>
                  <a:srgbClr val="00436E"/>
                </a:solidFill>
                <a:latin typeface="Playpen Sans Bold"/>
                <a:ea typeface="Playpen Sans Bold"/>
                <a:cs typeface="Playpen Sans Bold"/>
                <a:sym typeface="Playpen Sans Bold"/>
              </a:rPr>
              <a:t>Muhammad Said Eriyanto - 12322055</a:t>
            </a:r>
          </a:p>
        </p:txBody>
      </p:sp>
      <p:sp>
        <p:nvSpPr>
          <p:cNvPr id="17" name="TextBox 17"/>
          <p:cNvSpPr txBox="1"/>
          <p:nvPr/>
        </p:nvSpPr>
        <p:spPr>
          <a:xfrm>
            <a:off x="6572357" y="2178863"/>
            <a:ext cx="5143287" cy="560370"/>
          </a:xfrm>
          <a:prstGeom prst="rect">
            <a:avLst/>
          </a:prstGeom>
        </p:spPr>
        <p:txBody>
          <a:bodyPr lIns="0" tIns="0" rIns="0" bIns="0" rtlCol="0" anchor="t">
            <a:spAutoFit/>
          </a:bodyPr>
          <a:lstStyle/>
          <a:p>
            <a:pPr algn="ctr">
              <a:lnSpc>
                <a:spcPts val="4306"/>
              </a:lnSpc>
            </a:pPr>
            <a:r>
              <a:rPr lang="en-US" sz="3744" b="1">
                <a:solidFill>
                  <a:srgbClr val="FFDA66"/>
                </a:solidFill>
                <a:latin typeface="Playpen Sans Bold"/>
                <a:ea typeface="Playpen Sans Bold"/>
                <a:cs typeface="Playpen Sans Bold"/>
                <a:sym typeface="Playpen Sans Bold"/>
              </a:rPr>
              <a:t>TUGAS UTS</a:t>
            </a:r>
          </a:p>
        </p:txBody>
      </p:sp>
      <p:sp>
        <p:nvSpPr>
          <p:cNvPr id="18" name="TextBox 18"/>
          <p:cNvSpPr txBox="1"/>
          <p:nvPr/>
        </p:nvSpPr>
        <p:spPr>
          <a:xfrm>
            <a:off x="5760095" y="8215293"/>
            <a:ext cx="6767810" cy="1180465"/>
          </a:xfrm>
          <a:prstGeom prst="rect">
            <a:avLst/>
          </a:prstGeom>
        </p:spPr>
        <p:txBody>
          <a:bodyPr lIns="0" tIns="0" rIns="0" bIns="0" rtlCol="0" anchor="t">
            <a:spAutoFit/>
          </a:bodyPr>
          <a:lstStyle/>
          <a:p>
            <a:pPr algn="ctr">
              <a:lnSpc>
                <a:spcPts val="4759"/>
              </a:lnSpc>
            </a:pPr>
            <a:r>
              <a:rPr lang="en-US" sz="3399">
                <a:solidFill>
                  <a:srgbClr val="FFFFFF"/>
                </a:solidFill>
                <a:latin typeface="Open Sans"/>
                <a:ea typeface="Open Sans"/>
                <a:cs typeface="Open Sans"/>
                <a:sym typeface="Open Sans"/>
              </a:rPr>
              <a:t>Dosen Pengampu Nurhadiansyah, M.Kom</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8710" t="-55975" r="-1305" b="-17361"/>
            </a:stretch>
          </a:blipFill>
        </p:spPr>
      </p:sp>
      <p:sp>
        <p:nvSpPr>
          <p:cNvPr id="3" name="Freeform 3"/>
          <p:cNvSpPr/>
          <p:nvPr/>
        </p:nvSpPr>
        <p:spPr>
          <a:xfrm>
            <a:off x="-430279" y="1028700"/>
            <a:ext cx="4657861" cy="4698977"/>
          </a:xfrm>
          <a:custGeom>
            <a:avLst/>
            <a:gdLst/>
            <a:ahLst/>
            <a:cxnLst/>
            <a:rect l="l" t="t" r="r" b="b"/>
            <a:pathLst>
              <a:path w="4657861" h="4698977">
                <a:moveTo>
                  <a:pt x="0" y="0"/>
                </a:moveTo>
                <a:lnTo>
                  <a:pt x="4657861" y="0"/>
                </a:lnTo>
                <a:lnTo>
                  <a:pt x="4657861" y="4698977"/>
                </a:lnTo>
                <a:lnTo>
                  <a:pt x="0" y="4698977"/>
                </a:lnTo>
                <a:lnTo>
                  <a:pt x="0" y="0"/>
                </a:lnTo>
                <a:close/>
              </a:path>
            </a:pathLst>
          </a:custGeom>
          <a:blipFill>
            <a:blip r:embed="rId3"/>
            <a:stretch>
              <a:fillRect/>
            </a:stretch>
          </a:blipFill>
        </p:spPr>
      </p:sp>
      <p:sp>
        <p:nvSpPr>
          <p:cNvPr id="4" name="Freeform 4"/>
          <p:cNvSpPr/>
          <p:nvPr/>
        </p:nvSpPr>
        <p:spPr>
          <a:xfrm>
            <a:off x="14828873" y="3231435"/>
            <a:ext cx="4526280" cy="8229600"/>
          </a:xfrm>
          <a:custGeom>
            <a:avLst/>
            <a:gdLst/>
            <a:ahLst/>
            <a:cxnLst/>
            <a:rect l="l" t="t" r="r" b="b"/>
            <a:pathLst>
              <a:path w="4526280" h="8229600">
                <a:moveTo>
                  <a:pt x="0" y="0"/>
                </a:moveTo>
                <a:lnTo>
                  <a:pt x="4526280" y="0"/>
                </a:lnTo>
                <a:lnTo>
                  <a:pt x="4526280" y="8229600"/>
                </a:lnTo>
                <a:lnTo>
                  <a:pt x="0" y="8229600"/>
                </a:lnTo>
                <a:lnTo>
                  <a:pt x="0" y="0"/>
                </a:lnTo>
                <a:close/>
              </a:path>
            </a:pathLst>
          </a:custGeom>
          <a:blipFill>
            <a:blip r:embed="rId4"/>
            <a:stretch>
              <a:fillRect/>
            </a:stretch>
          </a:blipFill>
        </p:spPr>
      </p:sp>
      <p:sp>
        <p:nvSpPr>
          <p:cNvPr id="5" name="Freeform 5"/>
          <p:cNvSpPr/>
          <p:nvPr/>
        </p:nvSpPr>
        <p:spPr>
          <a:xfrm rot="-4734906" flipH="1">
            <a:off x="-705197" y="-1154170"/>
            <a:ext cx="4662690" cy="3765122"/>
          </a:xfrm>
          <a:custGeom>
            <a:avLst/>
            <a:gdLst/>
            <a:ahLst/>
            <a:cxnLst/>
            <a:rect l="l" t="t" r="r" b="b"/>
            <a:pathLst>
              <a:path w="4662690" h="3765122">
                <a:moveTo>
                  <a:pt x="4662690" y="0"/>
                </a:moveTo>
                <a:lnTo>
                  <a:pt x="0" y="0"/>
                </a:lnTo>
                <a:lnTo>
                  <a:pt x="0" y="3765122"/>
                </a:lnTo>
                <a:lnTo>
                  <a:pt x="4662690" y="3765122"/>
                </a:lnTo>
                <a:lnTo>
                  <a:pt x="4662690" y="0"/>
                </a:lnTo>
                <a:close/>
              </a:path>
            </a:pathLst>
          </a:custGeom>
          <a:blipFill>
            <a:blip r:embed="rId5"/>
            <a:stretch>
              <a:fillRect/>
            </a:stretch>
          </a:blipFill>
        </p:spPr>
      </p:sp>
      <p:sp>
        <p:nvSpPr>
          <p:cNvPr id="6" name="Freeform 6"/>
          <p:cNvSpPr/>
          <p:nvPr/>
        </p:nvSpPr>
        <p:spPr>
          <a:xfrm>
            <a:off x="15470186" y="0"/>
            <a:ext cx="3578229" cy="7346235"/>
          </a:xfrm>
          <a:custGeom>
            <a:avLst/>
            <a:gdLst/>
            <a:ahLst/>
            <a:cxnLst/>
            <a:rect l="l" t="t" r="r" b="b"/>
            <a:pathLst>
              <a:path w="3578229" h="7346235">
                <a:moveTo>
                  <a:pt x="0" y="0"/>
                </a:moveTo>
                <a:lnTo>
                  <a:pt x="3578228" y="0"/>
                </a:lnTo>
                <a:lnTo>
                  <a:pt x="3578228" y="7346235"/>
                </a:lnTo>
                <a:lnTo>
                  <a:pt x="0" y="7346235"/>
                </a:lnTo>
                <a:lnTo>
                  <a:pt x="0" y="0"/>
                </a:lnTo>
                <a:close/>
              </a:path>
            </a:pathLst>
          </a:custGeom>
          <a:blipFill>
            <a:blip r:embed="rId6"/>
            <a:stretch>
              <a:fillRect/>
            </a:stretch>
          </a:blipFill>
        </p:spPr>
      </p:sp>
      <p:sp>
        <p:nvSpPr>
          <p:cNvPr id="7" name="Freeform 7"/>
          <p:cNvSpPr/>
          <p:nvPr/>
        </p:nvSpPr>
        <p:spPr>
          <a:xfrm rot="-10045849">
            <a:off x="13141255" y="7471385"/>
            <a:ext cx="4657861" cy="4698977"/>
          </a:xfrm>
          <a:custGeom>
            <a:avLst/>
            <a:gdLst/>
            <a:ahLst/>
            <a:cxnLst/>
            <a:rect l="l" t="t" r="r" b="b"/>
            <a:pathLst>
              <a:path w="4657861" h="4698977">
                <a:moveTo>
                  <a:pt x="0" y="0"/>
                </a:moveTo>
                <a:lnTo>
                  <a:pt x="4657861" y="0"/>
                </a:lnTo>
                <a:lnTo>
                  <a:pt x="4657861" y="4698977"/>
                </a:lnTo>
                <a:lnTo>
                  <a:pt x="0" y="4698977"/>
                </a:lnTo>
                <a:lnTo>
                  <a:pt x="0" y="0"/>
                </a:lnTo>
                <a:close/>
              </a:path>
            </a:pathLst>
          </a:custGeom>
          <a:blipFill>
            <a:blip r:embed="rId3"/>
            <a:stretch>
              <a:fillRect/>
            </a:stretch>
          </a:blipFill>
        </p:spPr>
      </p:sp>
      <p:sp>
        <p:nvSpPr>
          <p:cNvPr id="8" name="Freeform 8"/>
          <p:cNvSpPr/>
          <p:nvPr/>
        </p:nvSpPr>
        <p:spPr>
          <a:xfrm rot="8664082" flipH="1">
            <a:off x="-2612428" y="2843684"/>
            <a:ext cx="3578229" cy="7346235"/>
          </a:xfrm>
          <a:custGeom>
            <a:avLst/>
            <a:gdLst/>
            <a:ahLst/>
            <a:cxnLst/>
            <a:rect l="l" t="t" r="r" b="b"/>
            <a:pathLst>
              <a:path w="3578229" h="7346235">
                <a:moveTo>
                  <a:pt x="3578229" y="0"/>
                </a:moveTo>
                <a:lnTo>
                  <a:pt x="0" y="0"/>
                </a:lnTo>
                <a:lnTo>
                  <a:pt x="0" y="7346235"/>
                </a:lnTo>
                <a:lnTo>
                  <a:pt x="3578229" y="7346235"/>
                </a:lnTo>
                <a:lnTo>
                  <a:pt x="3578229" y="0"/>
                </a:lnTo>
                <a:close/>
              </a:path>
            </a:pathLst>
          </a:custGeom>
          <a:blipFill>
            <a:blip r:embed="rId6"/>
            <a:stretch>
              <a:fillRect/>
            </a:stretch>
          </a:blipFill>
        </p:spPr>
      </p:sp>
      <p:sp>
        <p:nvSpPr>
          <p:cNvPr id="9" name="Freeform 9"/>
          <p:cNvSpPr/>
          <p:nvPr/>
        </p:nvSpPr>
        <p:spPr>
          <a:xfrm>
            <a:off x="4025059" y="1366588"/>
            <a:ext cx="1605499" cy="1605499"/>
          </a:xfrm>
          <a:custGeom>
            <a:avLst/>
            <a:gdLst/>
            <a:ahLst/>
            <a:cxnLst/>
            <a:rect l="l" t="t" r="r" b="b"/>
            <a:pathLst>
              <a:path w="1605499" h="1605499">
                <a:moveTo>
                  <a:pt x="0" y="0"/>
                </a:moveTo>
                <a:lnTo>
                  <a:pt x="1605499" y="0"/>
                </a:lnTo>
                <a:lnTo>
                  <a:pt x="1605499" y="1605499"/>
                </a:lnTo>
                <a:lnTo>
                  <a:pt x="0" y="160549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Freeform 10"/>
          <p:cNvSpPr/>
          <p:nvPr/>
        </p:nvSpPr>
        <p:spPr>
          <a:xfrm>
            <a:off x="14589727" y="7035307"/>
            <a:ext cx="1408932" cy="1408932"/>
          </a:xfrm>
          <a:custGeom>
            <a:avLst/>
            <a:gdLst/>
            <a:ahLst/>
            <a:cxnLst/>
            <a:rect l="l" t="t" r="r" b="b"/>
            <a:pathLst>
              <a:path w="1408932" h="1408932">
                <a:moveTo>
                  <a:pt x="0" y="0"/>
                </a:moveTo>
                <a:lnTo>
                  <a:pt x="1408933" y="0"/>
                </a:lnTo>
                <a:lnTo>
                  <a:pt x="1408933" y="1408932"/>
                </a:lnTo>
                <a:lnTo>
                  <a:pt x="0" y="140893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1" name="Freeform 11"/>
          <p:cNvSpPr/>
          <p:nvPr/>
        </p:nvSpPr>
        <p:spPr>
          <a:xfrm>
            <a:off x="15998660" y="6516801"/>
            <a:ext cx="630244" cy="630244"/>
          </a:xfrm>
          <a:custGeom>
            <a:avLst/>
            <a:gdLst/>
            <a:ahLst/>
            <a:cxnLst/>
            <a:rect l="l" t="t" r="r" b="b"/>
            <a:pathLst>
              <a:path w="630244" h="630244">
                <a:moveTo>
                  <a:pt x="0" y="0"/>
                </a:moveTo>
                <a:lnTo>
                  <a:pt x="630243" y="0"/>
                </a:lnTo>
                <a:lnTo>
                  <a:pt x="630243" y="630244"/>
                </a:lnTo>
                <a:lnTo>
                  <a:pt x="0" y="63024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2" name="Freeform 12"/>
          <p:cNvSpPr/>
          <p:nvPr/>
        </p:nvSpPr>
        <p:spPr>
          <a:xfrm>
            <a:off x="3246042" y="728391"/>
            <a:ext cx="675776" cy="675776"/>
          </a:xfrm>
          <a:custGeom>
            <a:avLst/>
            <a:gdLst/>
            <a:ahLst/>
            <a:cxnLst/>
            <a:rect l="l" t="t" r="r" b="b"/>
            <a:pathLst>
              <a:path w="675776" h="675776">
                <a:moveTo>
                  <a:pt x="0" y="0"/>
                </a:moveTo>
                <a:lnTo>
                  <a:pt x="675777" y="0"/>
                </a:lnTo>
                <a:lnTo>
                  <a:pt x="675777" y="675777"/>
                </a:lnTo>
                <a:lnTo>
                  <a:pt x="0" y="67577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3" name="Freeform 13"/>
          <p:cNvSpPr/>
          <p:nvPr/>
        </p:nvSpPr>
        <p:spPr>
          <a:xfrm rot="1196209">
            <a:off x="12423546" y="1117970"/>
            <a:ext cx="3345559" cy="1934436"/>
          </a:xfrm>
          <a:custGeom>
            <a:avLst/>
            <a:gdLst/>
            <a:ahLst/>
            <a:cxnLst/>
            <a:rect l="l" t="t" r="r" b="b"/>
            <a:pathLst>
              <a:path w="3345559" h="1934436">
                <a:moveTo>
                  <a:pt x="0" y="0"/>
                </a:moveTo>
                <a:lnTo>
                  <a:pt x="3345559" y="0"/>
                </a:lnTo>
                <a:lnTo>
                  <a:pt x="3345559" y="1934436"/>
                </a:lnTo>
                <a:lnTo>
                  <a:pt x="0" y="1934436"/>
                </a:lnTo>
                <a:lnTo>
                  <a:pt x="0" y="0"/>
                </a:lnTo>
                <a:close/>
              </a:path>
            </a:pathLst>
          </a:custGeom>
          <a:blipFill>
            <a:blip r:embed="rId11"/>
            <a:stretch>
              <a:fillRect b="-51329"/>
            </a:stretch>
          </a:blipFill>
        </p:spPr>
      </p:sp>
      <p:sp>
        <p:nvSpPr>
          <p:cNvPr id="14" name="TextBox 14"/>
          <p:cNvSpPr txBox="1"/>
          <p:nvPr/>
        </p:nvSpPr>
        <p:spPr>
          <a:xfrm>
            <a:off x="5506230" y="1404688"/>
            <a:ext cx="7275540" cy="874395"/>
          </a:xfrm>
          <a:prstGeom prst="rect">
            <a:avLst/>
          </a:prstGeom>
        </p:spPr>
        <p:txBody>
          <a:bodyPr lIns="0" tIns="0" rIns="0" bIns="0" rtlCol="0" anchor="t">
            <a:spAutoFit/>
          </a:bodyPr>
          <a:lstStyle/>
          <a:p>
            <a:pPr algn="ctr">
              <a:lnSpc>
                <a:spcPts val="6839"/>
              </a:lnSpc>
            </a:pPr>
            <a:r>
              <a:rPr lang="en-US" sz="5999" b="1">
                <a:solidFill>
                  <a:srgbClr val="FFDA66"/>
                </a:solidFill>
                <a:latin typeface="Playpen Sans Bold"/>
                <a:ea typeface="Playpen Sans Bold"/>
                <a:cs typeface="Playpen Sans Bold"/>
                <a:sym typeface="Playpen Sans Bold"/>
              </a:rPr>
              <a:t>Kata Pengantar</a:t>
            </a:r>
          </a:p>
        </p:txBody>
      </p:sp>
      <p:sp>
        <p:nvSpPr>
          <p:cNvPr id="15" name="TextBox 15"/>
          <p:cNvSpPr txBox="1"/>
          <p:nvPr/>
        </p:nvSpPr>
        <p:spPr>
          <a:xfrm>
            <a:off x="285218" y="2632033"/>
            <a:ext cx="17717563" cy="6809105"/>
          </a:xfrm>
          <a:prstGeom prst="rect">
            <a:avLst/>
          </a:prstGeom>
        </p:spPr>
        <p:txBody>
          <a:bodyPr lIns="0" tIns="0" rIns="0" bIns="0" rtlCol="0" anchor="t">
            <a:spAutoFit/>
          </a:bodyPr>
          <a:lstStyle/>
          <a:p>
            <a:pPr algn="just">
              <a:lnSpc>
                <a:spcPts val="3219"/>
              </a:lnSpc>
            </a:pPr>
            <a:r>
              <a:rPr lang="en-US" sz="2799" b="1" spc="-55">
                <a:solidFill>
                  <a:srgbClr val="FFFFFF"/>
                </a:solidFill>
                <a:latin typeface="Playpen Sans Bold"/>
                <a:ea typeface="Playpen Sans Bold"/>
                <a:cs typeface="Playpen Sans Bold"/>
                <a:sym typeface="Playpen Sans Bold"/>
              </a:rPr>
              <a:t>Puji dan syukur penulis panjatkan ke hadirat Tuhan Yang Maha Esa atas segala limpahan rahmat dan karunia-Nya sehingga penulis dapat menyelesaikan makalah ini yang berjudul "Perancangan dan Pengembangan Website Karyawan PT. Kaldu Sari Nabati".</a:t>
            </a:r>
          </a:p>
          <a:p>
            <a:pPr algn="just">
              <a:lnSpc>
                <a:spcPts val="3219"/>
              </a:lnSpc>
            </a:pPr>
            <a:r>
              <a:rPr lang="en-US" sz="2799" b="1" spc="-55">
                <a:solidFill>
                  <a:srgbClr val="FFFFFF"/>
                </a:solidFill>
                <a:latin typeface="Playpen Sans Bold"/>
                <a:ea typeface="Playpen Sans Bold"/>
                <a:cs typeface="Playpen Sans Bold"/>
                <a:sym typeface="Playpen Sans Bold"/>
              </a:rPr>
              <a:t>Makalah ini disusun sebagai salah satu tugas pada mata kuliah terkait pengembangan perangkat lunak. Tujuan dari penulisan ini adalah untuk menerapkan metode Software Development Life Cycle (SDLC) dalam perancangan sebuah aplikasi berbasis web yang dirancang untuk mempermudah proses pengecekkan detail karyawan bekerja dan cek gaji karyawan.</a:t>
            </a:r>
          </a:p>
          <a:p>
            <a:pPr algn="just">
              <a:lnSpc>
                <a:spcPts val="3219"/>
              </a:lnSpc>
            </a:pPr>
            <a:r>
              <a:rPr lang="en-US" sz="2799" b="1" spc="-55">
                <a:solidFill>
                  <a:srgbClr val="FFFFFF"/>
                </a:solidFill>
                <a:latin typeface="Playpen Sans Bold"/>
                <a:ea typeface="Playpen Sans Bold"/>
                <a:cs typeface="Playpen Sans Bold"/>
                <a:sym typeface="Playpen Sans Bold"/>
              </a:rPr>
              <a:t>Dalam proses penyusunan makalah ini, penulis telah berusaha memberikan yang terbaik. Namun, penulis menyadari bahwa masih terdapat kekurangan dalam penyajian dan pembahasan materi. Oleh karena itu, kritik dan saran yang bersifat membangun sangat penulis harapkan demi perbaikan di masa mendatang.</a:t>
            </a:r>
          </a:p>
          <a:p>
            <a:pPr algn="just">
              <a:lnSpc>
                <a:spcPts val="3219"/>
              </a:lnSpc>
            </a:pPr>
            <a:r>
              <a:rPr lang="en-US" sz="2799" b="1" spc="-55">
                <a:solidFill>
                  <a:srgbClr val="FFFFFF"/>
                </a:solidFill>
                <a:latin typeface="Playpen Sans Bold"/>
                <a:ea typeface="Playpen Sans Bold"/>
                <a:cs typeface="Playpen Sans Bold"/>
                <a:sym typeface="Playpen Sans Bold"/>
              </a:rPr>
              <a:t>Penulis juga ingin menyampaikan terima kasih kepada dosen pembimbing dan semua pihak yang telah memberikan bimbingan, dukungan, serta masukan yang sangat berharga selama penyusunan makalah ini.</a:t>
            </a:r>
          </a:p>
          <a:p>
            <a:pPr algn="just">
              <a:lnSpc>
                <a:spcPts val="3219"/>
              </a:lnSpc>
            </a:pPr>
            <a:r>
              <a:rPr lang="en-US" sz="2799" b="1" spc="-55">
                <a:solidFill>
                  <a:srgbClr val="FFFFFF"/>
                </a:solidFill>
                <a:latin typeface="Playpen Sans Bold"/>
                <a:ea typeface="Playpen Sans Bold"/>
                <a:cs typeface="Playpen Sans Bold"/>
                <a:sym typeface="Playpen Sans Bold"/>
              </a:rPr>
              <a:t>Akhir kata, semoga makalah ini dapat memberikan manfaat bagi pembaca, khususnya bagi mereka yang ingin memahami proses pengembangan aplikasi absensi berbasis web dan mengaplikasikannya dalam dunia kerja.</a:t>
            </a:r>
          </a:p>
        </p:txBody>
      </p:sp>
      <p:sp>
        <p:nvSpPr>
          <p:cNvPr id="16" name="Freeform 16"/>
          <p:cNvSpPr/>
          <p:nvPr/>
        </p:nvSpPr>
        <p:spPr>
          <a:xfrm rot="1616795" flipV="1">
            <a:off x="2543899" y="8038644"/>
            <a:ext cx="4567819" cy="2641159"/>
          </a:xfrm>
          <a:custGeom>
            <a:avLst/>
            <a:gdLst/>
            <a:ahLst/>
            <a:cxnLst/>
            <a:rect l="l" t="t" r="r" b="b"/>
            <a:pathLst>
              <a:path w="4567819" h="2641159">
                <a:moveTo>
                  <a:pt x="0" y="2641159"/>
                </a:moveTo>
                <a:lnTo>
                  <a:pt x="4567819" y="2641159"/>
                </a:lnTo>
                <a:lnTo>
                  <a:pt x="4567819" y="0"/>
                </a:lnTo>
                <a:lnTo>
                  <a:pt x="0" y="0"/>
                </a:lnTo>
                <a:lnTo>
                  <a:pt x="0" y="2641159"/>
                </a:lnTo>
                <a:close/>
              </a:path>
            </a:pathLst>
          </a:custGeom>
          <a:blipFill>
            <a:blip r:embed="rId11"/>
            <a:stretch>
              <a:fillRect b="-51329"/>
            </a:stretch>
          </a:blipFill>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8710" t="-55975" r="-1305" b="-17361"/>
            </a:stretch>
          </a:blipFill>
        </p:spPr>
      </p:sp>
      <p:sp>
        <p:nvSpPr>
          <p:cNvPr id="3" name="Freeform 3"/>
          <p:cNvSpPr/>
          <p:nvPr/>
        </p:nvSpPr>
        <p:spPr>
          <a:xfrm>
            <a:off x="-430279" y="1028700"/>
            <a:ext cx="3839923" cy="3873819"/>
          </a:xfrm>
          <a:custGeom>
            <a:avLst/>
            <a:gdLst/>
            <a:ahLst/>
            <a:cxnLst/>
            <a:rect l="l" t="t" r="r" b="b"/>
            <a:pathLst>
              <a:path w="3839923" h="3873819">
                <a:moveTo>
                  <a:pt x="0" y="0"/>
                </a:moveTo>
                <a:lnTo>
                  <a:pt x="3839923" y="0"/>
                </a:lnTo>
                <a:lnTo>
                  <a:pt x="3839923" y="3873819"/>
                </a:lnTo>
                <a:lnTo>
                  <a:pt x="0" y="3873819"/>
                </a:lnTo>
                <a:lnTo>
                  <a:pt x="0" y="0"/>
                </a:lnTo>
                <a:close/>
              </a:path>
            </a:pathLst>
          </a:custGeom>
          <a:blipFill>
            <a:blip r:embed="rId3"/>
            <a:stretch>
              <a:fillRect/>
            </a:stretch>
          </a:blipFill>
        </p:spPr>
      </p:sp>
      <p:sp>
        <p:nvSpPr>
          <p:cNvPr id="4" name="Freeform 4"/>
          <p:cNvSpPr/>
          <p:nvPr/>
        </p:nvSpPr>
        <p:spPr>
          <a:xfrm rot="-485237">
            <a:off x="15714352" y="3968183"/>
            <a:ext cx="3089896" cy="5617992"/>
          </a:xfrm>
          <a:custGeom>
            <a:avLst/>
            <a:gdLst/>
            <a:ahLst/>
            <a:cxnLst/>
            <a:rect l="l" t="t" r="r" b="b"/>
            <a:pathLst>
              <a:path w="3089896" h="5617992">
                <a:moveTo>
                  <a:pt x="0" y="0"/>
                </a:moveTo>
                <a:lnTo>
                  <a:pt x="3089896" y="0"/>
                </a:lnTo>
                <a:lnTo>
                  <a:pt x="3089896" y="5617992"/>
                </a:lnTo>
                <a:lnTo>
                  <a:pt x="0" y="5617992"/>
                </a:lnTo>
                <a:lnTo>
                  <a:pt x="0" y="0"/>
                </a:lnTo>
                <a:close/>
              </a:path>
            </a:pathLst>
          </a:custGeom>
          <a:blipFill>
            <a:blip r:embed="rId4"/>
            <a:stretch>
              <a:fillRect/>
            </a:stretch>
          </a:blipFill>
        </p:spPr>
      </p:sp>
      <p:sp>
        <p:nvSpPr>
          <p:cNvPr id="5" name="Freeform 5"/>
          <p:cNvSpPr/>
          <p:nvPr/>
        </p:nvSpPr>
        <p:spPr>
          <a:xfrm rot="-4734906" flipH="1">
            <a:off x="-523501" y="-1303722"/>
            <a:ext cx="3753823" cy="3031212"/>
          </a:xfrm>
          <a:custGeom>
            <a:avLst/>
            <a:gdLst/>
            <a:ahLst/>
            <a:cxnLst/>
            <a:rect l="l" t="t" r="r" b="b"/>
            <a:pathLst>
              <a:path w="3753823" h="3031212">
                <a:moveTo>
                  <a:pt x="3753823" y="0"/>
                </a:moveTo>
                <a:lnTo>
                  <a:pt x="0" y="0"/>
                </a:lnTo>
                <a:lnTo>
                  <a:pt x="0" y="3031212"/>
                </a:lnTo>
                <a:lnTo>
                  <a:pt x="3753823" y="3031212"/>
                </a:lnTo>
                <a:lnTo>
                  <a:pt x="3753823" y="0"/>
                </a:lnTo>
                <a:close/>
              </a:path>
            </a:pathLst>
          </a:custGeom>
          <a:blipFill>
            <a:blip r:embed="rId5"/>
            <a:stretch>
              <a:fillRect/>
            </a:stretch>
          </a:blipFill>
        </p:spPr>
      </p:sp>
      <p:sp>
        <p:nvSpPr>
          <p:cNvPr id="6" name="Freeform 6"/>
          <p:cNvSpPr/>
          <p:nvPr/>
        </p:nvSpPr>
        <p:spPr>
          <a:xfrm rot="-646756">
            <a:off x="15998660" y="728391"/>
            <a:ext cx="2734633" cy="5614302"/>
          </a:xfrm>
          <a:custGeom>
            <a:avLst/>
            <a:gdLst/>
            <a:ahLst/>
            <a:cxnLst/>
            <a:rect l="l" t="t" r="r" b="b"/>
            <a:pathLst>
              <a:path w="2734633" h="5614302">
                <a:moveTo>
                  <a:pt x="0" y="0"/>
                </a:moveTo>
                <a:lnTo>
                  <a:pt x="2734633" y="0"/>
                </a:lnTo>
                <a:lnTo>
                  <a:pt x="2734633" y="5614302"/>
                </a:lnTo>
                <a:lnTo>
                  <a:pt x="0" y="5614302"/>
                </a:lnTo>
                <a:lnTo>
                  <a:pt x="0" y="0"/>
                </a:lnTo>
                <a:close/>
              </a:path>
            </a:pathLst>
          </a:custGeom>
          <a:blipFill>
            <a:blip r:embed="rId6"/>
            <a:stretch>
              <a:fillRect/>
            </a:stretch>
          </a:blipFill>
        </p:spPr>
      </p:sp>
      <p:sp>
        <p:nvSpPr>
          <p:cNvPr id="7" name="Freeform 7"/>
          <p:cNvSpPr/>
          <p:nvPr/>
        </p:nvSpPr>
        <p:spPr>
          <a:xfrm rot="-10045849">
            <a:off x="14939712" y="7614576"/>
            <a:ext cx="3579066" cy="3610659"/>
          </a:xfrm>
          <a:custGeom>
            <a:avLst/>
            <a:gdLst/>
            <a:ahLst/>
            <a:cxnLst/>
            <a:rect l="l" t="t" r="r" b="b"/>
            <a:pathLst>
              <a:path w="3579066" h="3610659">
                <a:moveTo>
                  <a:pt x="0" y="0"/>
                </a:moveTo>
                <a:lnTo>
                  <a:pt x="3579065" y="0"/>
                </a:lnTo>
                <a:lnTo>
                  <a:pt x="3579065" y="3610659"/>
                </a:lnTo>
                <a:lnTo>
                  <a:pt x="0" y="3610659"/>
                </a:lnTo>
                <a:lnTo>
                  <a:pt x="0" y="0"/>
                </a:lnTo>
                <a:close/>
              </a:path>
            </a:pathLst>
          </a:custGeom>
          <a:blipFill>
            <a:blip r:embed="rId3"/>
            <a:stretch>
              <a:fillRect/>
            </a:stretch>
          </a:blipFill>
        </p:spPr>
      </p:sp>
      <p:sp>
        <p:nvSpPr>
          <p:cNvPr id="8" name="Freeform 8"/>
          <p:cNvSpPr/>
          <p:nvPr/>
        </p:nvSpPr>
        <p:spPr>
          <a:xfrm rot="7184836" flipH="1">
            <a:off x="-1456972" y="2986773"/>
            <a:ext cx="2913944" cy="5982433"/>
          </a:xfrm>
          <a:custGeom>
            <a:avLst/>
            <a:gdLst/>
            <a:ahLst/>
            <a:cxnLst/>
            <a:rect l="l" t="t" r="r" b="b"/>
            <a:pathLst>
              <a:path w="2913944" h="5982433">
                <a:moveTo>
                  <a:pt x="2913944" y="0"/>
                </a:moveTo>
                <a:lnTo>
                  <a:pt x="0" y="0"/>
                </a:lnTo>
                <a:lnTo>
                  <a:pt x="0" y="5982433"/>
                </a:lnTo>
                <a:lnTo>
                  <a:pt x="2913944" y="5982433"/>
                </a:lnTo>
                <a:lnTo>
                  <a:pt x="2913944" y="0"/>
                </a:lnTo>
                <a:close/>
              </a:path>
            </a:pathLst>
          </a:custGeom>
          <a:blipFill>
            <a:blip r:embed="rId6"/>
            <a:stretch>
              <a:fillRect/>
            </a:stretch>
          </a:blipFill>
        </p:spPr>
      </p:sp>
      <p:sp>
        <p:nvSpPr>
          <p:cNvPr id="9" name="Freeform 9"/>
          <p:cNvSpPr/>
          <p:nvPr/>
        </p:nvSpPr>
        <p:spPr>
          <a:xfrm>
            <a:off x="16099001" y="7186363"/>
            <a:ext cx="630244" cy="630244"/>
          </a:xfrm>
          <a:custGeom>
            <a:avLst/>
            <a:gdLst/>
            <a:ahLst/>
            <a:cxnLst/>
            <a:rect l="l" t="t" r="r" b="b"/>
            <a:pathLst>
              <a:path w="630244" h="630244">
                <a:moveTo>
                  <a:pt x="0" y="0"/>
                </a:moveTo>
                <a:lnTo>
                  <a:pt x="630243" y="0"/>
                </a:lnTo>
                <a:lnTo>
                  <a:pt x="630243" y="630243"/>
                </a:lnTo>
                <a:lnTo>
                  <a:pt x="0" y="63024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Freeform 10"/>
          <p:cNvSpPr/>
          <p:nvPr/>
        </p:nvSpPr>
        <p:spPr>
          <a:xfrm>
            <a:off x="3246042" y="728391"/>
            <a:ext cx="675776" cy="675776"/>
          </a:xfrm>
          <a:custGeom>
            <a:avLst/>
            <a:gdLst/>
            <a:ahLst/>
            <a:cxnLst/>
            <a:rect l="l" t="t" r="r" b="b"/>
            <a:pathLst>
              <a:path w="675776" h="675776">
                <a:moveTo>
                  <a:pt x="0" y="0"/>
                </a:moveTo>
                <a:lnTo>
                  <a:pt x="675777" y="0"/>
                </a:lnTo>
                <a:lnTo>
                  <a:pt x="675777" y="675777"/>
                </a:lnTo>
                <a:lnTo>
                  <a:pt x="0" y="67577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1" name="Freeform 11"/>
          <p:cNvSpPr/>
          <p:nvPr/>
        </p:nvSpPr>
        <p:spPr>
          <a:xfrm>
            <a:off x="12241617" y="210918"/>
            <a:ext cx="3691143" cy="2134256"/>
          </a:xfrm>
          <a:custGeom>
            <a:avLst/>
            <a:gdLst/>
            <a:ahLst/>
            <a:cxnLst/>
            <a:rect l="l" t="t" r="r" b="b"/>
            <a:pathLst>
              <a:path w="3691143" h="2134256">
                <a:moveTo>
                  <a:pt x="0" y="0"/>
                </a:moveTo>
                <a:lnTo>
                  <a:pt x="3691143" y="0"/>
                </a:lnTo>
                <a:lnTo>
                  <a:pt x="3691143" y="2134256"/>
                </a:lnTo>
                <a:lnTo>
                  <a:pt x="0" y="2134256"/>
                </a:lnTo>
                <a:lnTo>
                  <a:pt x="0" y="0"/>
                </a:lnTo>
                <a:close/>
              </a:path>
            </a:pathLst>
          </a:custGeom>
          <a:blipFill>
            <a:blip r:embed="rId9"/>
            <a:stretch>
              <a:fillRect b="-51329"/>
            </a:stretch>
          </a:blipFill>
        </p:spPr>
      </p:sp>
      <p:sp>
        <p:nvSpPr>
          <p:cNvPr id="12" name="Freeform 12"/>
          <p:cNvSpPr/>
          <p:nvPr/>
        </p:nvSpPr>
        <p:spPr>
          <a:xfrm rot="1616795" flipV="1">
            <a:off x="2063189" y="8038644"/>
            <a:ext cx="4567819" cy="2641159"/>
          </a:xfrm>
          <a:custGeom>
            <a:avLst/>
            <a:gdLst/>
            <a:ahLst/>
            <a:cxnLst/>
            <a:rect l="l" t="t" r="r" b="b"/>
            <a:pathLst>
              <a:path w="4567819" h="2641159">
                <a:moveTo>
                  <a:pt x="0" y="2641159"/>
                </a:moveTo>
                <a:lnTo>
                  <a:pt x="4567819" y="2641159"/>
                </a:lnTo>
                <a:lnTo>
                  <a:pt x="4567819" y="0"/>
                </a:lnTo>
                <a:lnTo>
                  <a:pt x="0" y="0"/>
                </a:lnTo>
                <a:lnTo>
                  <a:pt x="0" y="2641159"/>
                </a:lnTo>
                <a:close/>
              </a:path>
            </a:pathLst>
          </a:custGeom>
          <a:blipFill>
            <a:blip r:embed="rId9"/>
            <a:stretch>
              <a:fillRect b="-51329"/>
            </a:stretch>
          </a:blipFill>
        </p:spPr>
      </p:sp>
      <p:sp>
        <p:nvSpPr>
          <p:cNvPr id="13" name="TextBox 13"/>
          <p:cNvSpPr txBox="1"/>
          <p:nvPr/>
        </p:nvSpPr>
        <p:spPr>
          <a:xfrm>
            <a:off x="6094008" y="1637019"/>
            <a:ext cx="6099984" cy="874395"/>
          </a:xfrm>
          <a:prstGeom prst="rect">
            <a:avLst/>
          </a:prstGeom>
        </p:spPr>
        <p:txBody>
          <a:bodyPr lIns="0" tIns="0" rIns="0" bIns="0" rtlCol="0" anchor="t">
            <a:spAutoFit/>
          </a:bodyPr>
          <a:lstStyle/>
          <a:p>
            <a:pPr algn="ctr">
              <a:lnSpc>
                <a:spcPts val="6839"/>
              </a:lnSpc>
            </a:pPr>
            <a:r>
              <a:rPr lang="en-US" sz="5999" b="1">
                <a:solidFill>
                  <a:srgbClr val="FFDA66"/>
                </a:solidFill>
                <a:latin typeface="Playpen Sans Bold"/>
                <a:ea typeface="Playpen Sans Bold"/>
                <a:cs typeface="Playpen Sans Bold"/>
                <a:sym typeface="Playpen Sans Bold"/>
              </a:rPr>
              <a:t>Daftar Isi</a:t>
            </a:r>
          </a:p>
        </p:txBody>
      </p:sp>
      <p:sp>
        <p:nvSpPr>
          <p:cNvPr id="14" name="TextBox 14"/>
          <p:cNvSpPr txBox="1"/>
          <p:nvPr/>
        </p:nvSpPr>
        <p:spPr>
          <a:xfrm>
            <a:off x="5293192" y="3935568"/>
            <a:ext cx="7701617" cy="4094367"/>
          </a:xfrm>
          <a:prstGeom prst="rect">
            <a:avLst/>
          </a:prstGeom>
        </p:spPr>
        <p:txBody>
          <a:bodyPr lIns="0" tIns="0" rIns="0" bIns="0" rtlCol="0" anchor="t">
            <a:spAutoFit/>
          </a:bodyPr>
          <a:lstStyle/>
          <a:p>
            <a:pPr marL="770898" lvl="1" indent="-385449" algn="l">
              <a:lnSpc>
                <a:spcPts val="4106"/>
              </a:lnSpc>
              <a:buFont typeface="Arial"/>
              <a:buChar char="•"/>
            </a:pPr>
            <a:r>
              <a:rPr lang="en-US" sz="3570" b="1">
                <a:solidFill>
                  <a:srgbClr val="FFFFFF"/>
                </a:solidFill>
                <a:latin typeface="Playpen Sans Bold"/>
                <a:ea typeface="Playpen Sans Bold"/>
                <a:cs typeface="Playpen Sans Bold"/>
                <a:sym typeface="Playpen Sans Bold"/>
              </a:rPr>
              <a:t>BAB I: Pendahuluan</a:t>
            </a:r>
          </a:p>
          <a:p>
            <a:pPr marL="770898" lvl="1" indent="-385449" algn="l">
              <a:lnSpc>
                <a:spcPts val="4106"/>
              </a:lnSpc>
              <a:buFont typeface="Arial"/>
              <a:buChar char="•"/>
            </a:pPr>
            <a:r>
              <a:rPr lang="en-US" sz="3570" b="1">
                <a:solidFill>
                  <a:srgbClr val="FFFFFF"/>
                </a:solidFill>
                <a:latin typeface="Playpen Sans Bold"/>
                <a:ea typeface="Playpen Sans Bold"/>
                <a:cs typeface="Playpen Sans Bold"/>
                <a:sym typeface="Playpen Sans Bold"/>
              </a:rPr>
              <a:t>BAB II: Analisis Kebutuhan</a:t>
            </a:r>
          </a:p>
          <a:p>
            <a:pPr marL="770898" lvl="1" indent="-385449" algn="l">
              <a:lnSpc>
                <a:spcPts val="4106"/>
              </a:lnSpc>
              <a:buFont typeface="Arial"/>
              <a:buChar char="•"/>
            </a:pPr>
            <a:r>
              <a:rPr lang="en-US" sz="3570" b="1">
                <a:solidFill>
                  <a:srgbClr val="FFFFFF"/>
                </a:solidFill>
                <a:latin typeface="Playpen Sans Bold"/>
                <a:ea typeface="Playpen Sans Bold"/>
                <a:cs typeface="Playpen Sans Bold"/>
                <a:sym typeface="Playpen Sans Bold"/>
              </a:rPr>
              <a:t>BAB III: Desain Sistem</a:t>
            </a:r>
          </a:p>
          <a:p>
            <a:pPr marL="770898" lvl="1" indent="-385449" algn="l">
              <a:lnSpc>
                <a:spcPts val="4106"/>
              </a:lnSpc>
              <a:buFont typeface="Arial"/>
              <a:buChar char="•"/>
            </a:pPr>
            <a:r>
              <a:rPr lang="en-US" sz="3570" b="1">
                <a:solidFill>
                  <a:srgbClr val="FFFFFF"/>
                </a:solidFill>
                <a:latin typeface="Playpen Sans Bold"/>
                <a:ea typeface="Playpen Sans Bold"/>
                <a:cs typeface="Playpen Sans Bold"/>
                <a:sym typeface="Playpen Sans Bold"/>
              </a:rPr>
              <a:t>BAB IV: Implementasi</a:t>
            </a:r>
          </a:p>
          <a:p>
            <a:pPr marL="770898" lvl="1" indent="-385449" algn="l">
              <a:lnSpc>
                <a:spcPts val="4106"/>
              </a:lnSpc>
              <a:buFont typeface="Arial"/>
              <a:buChar char="•"/>
            </a:pPr>
            <a:r>
              <a:rPr lang="en-US" sz="3570" b="1">
                <a:solidFill>
                  <a:srgbClr val="FFFFFF"/>
                </a:solidFill>
                <a:latin typeface="Playpen Sans Bold"/>
                <a:ea typeface="Playpen Sans Bold"/>
                <a:cs typeface="Playpen Sans Bold"/>
                <a:sym typeface="Playpen Sans Bold"/>
              </a:rPr>
              <a:t>BAB V: Pengujian</a:t>
            </a:r>
          </a:p>
          <a:p>
            <a:pPr marL="770898" lvl="1" indent="-385449" algn="l">
              <a:lnSpc>
                <a:spcPts val="4106"/>
              </a:lnSpc>
              <a:buFont typeface="Arial"/>
              <a:buChar char="•"/>
            </a:pPr>
            <a:r>
              <a:rPr lang="en-US" sz="3570" b="1">
                <a:solidFill>
                  <a:srgbClr val="FFFFFF"/>
                </a:solidFill>
                <a:latin typeface="Playpen Sans Bold"/>
                <a:ea typeface="Playpen Sans Bold"/>
                <a:cs typeface="Playpen Sans Bold"/>
                <a:sym typeface="Playpen Sans Bold"/>
              </a:rPr>
              <a:t>BAB VI: Maintenance</a:t>
            </a:r>
          </a:p>
          <a:p>
            <a:pPr marL="770898" lvl="1" indent="-385449" algn="l">
              <a:lnSpc>
                <a:spcPts val="4106"/>
              </a:lnSpc>
              <a:buFont typeface="Arial"/>
              <a:buChar char="•"/>
            </a:pPr>
            <a:r>
              <a:rPr lang="en-US" sz="3570" b="1">
                <a:solidFill>
                  <a:srgbClr val="FFFFFF"/>
                </a:solidFill>
                <a:latin typeface="Playpen Sans Bold"/>
                <a:ea typeface="Playpen Sans Bold"/>
                <a:cs typeface="Playpen Sans Bold"/>
                <a:sym typeface="Playpen Sans Bold"/>
              </a:rPr>
              <a:t>BAB VII: Daftar Pustaka</a:t>
            </a:r>
          </a:p>
          <a:p>
            <a:pPr algn="l">
              <a:lnSpc>
                <a:spcPts val="4106"/>
              </a:lnSpc>
            </a:pPr>
            <a:endParaRPr lang="en-US" sz="3570" b="1">
              <a:solidFill>
                <a:srgbClr val="FFFFFF"/>
              </a:solidFill>
              <a:latin typeface="Playpen Sans Bold"/>
              <a:ea typeface="Playpen Sans Bold"/>
              <a:cs typeface="Playpen Sans Bold"/>
              <a:sym typeface="Playpen Sans Bold"/>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8710" t="-55975" r="-1305" b="-17361"/>
            </a:stretch>
          </a:blipFill>
        </p:spPr>
      </p:sp>
      <p:sp>
        <p:nvSpPr>
          <p:cNvPr id="3" name="Freeform 3"/>
          <p:cNvSpPr/>
          <p:nvPr/>
        </p:nvSpPr>
        <p:spPr>
          <a:xfrm>
            <a:off x="-430279" y="1028700"/>
            <a:ext cx="3839923" cy="3873819"/>
          </a:xfrm>
          <a:custGeom>
            <a:avLst/>
            <a:gdLst/>
            <a:ahLst/>
            <a:cxnLst/>
            <a:rect l="l" t="t" r="r" b="b"/>
            <a:pathLst>
              <a:path w="3839923" h="3873819">
                <a:moveTo>
                  <a:pt x="0" y="0"/>
                </a:moveTo>
                <a:lnTo>
                  <a:pt x="3839923" y="0"/>
                </a:lnTo>
                <a:lnTo>
                  <a:pt x="3839923" y="3873819"/>
                </a:lnTo>
                <a:lnTo>
                  <a:pt x="0" y="3873819"/>
                </a:lnTo>
                <a:lnTo>
                  <a:pt x="0" y="0"/>
                </a:lnTo>
                <a:close/>
              </a:path>
            </a:pathLst>
          </a:custGeom>
          <a:blipFill>
            <a:blip r:embed="rId3"/>
            <a:stretch>
              <a:fillRect/>
            </a:stretch>
          </a:blipFill>
        </p:spPr>
      </p:sp>
      <p:sp>
        <p:nvSpPr>
          <p:cNvPr id="4" name="Freeform 4"/>
          <p:cNvSpPr/>
          <p:nvPr/>
        </p:nvSpPr>
        <p:spPr>
          <a:xfrm rot="-485237">
            <a:off x="15714352" y="3968183"/>
            <a:ext cx="3089896" cy="5617992"/>
          </a:xfrm>
          <a:custGeom>
            <a:avLst/>
            <a:gdLst/>
            <a:ahLst/>
            <a:cxnLst/>
            <a:rect l="l" t="t" r="r" b="b"/>
            <a:pathLst>
              <a:path w="3089896" h="5617992">
                <a:moveTo>
                  <a:pt x="0" y="0"/>
                </a:moveTo>
                <a:lnTo>
                  <a:pt x="3089896" y="0"/>
                </a:lnTo>
                <a:lnTo>
                  <a:pt x="3089896" y="5617992"/>
                </a:lnTo>
                <a:lnTo>
                  <a:pt x="0" y="5617992"/>
                </a:lnTo>
                <a:lnTo>
                  <a:pt x="0" y="0"/>
                </a:lnTo>
                <a:close/>
              </a:path>
            </a:pathLst>
          </a:custGeom>
          <a:blipFill>
            <a:blip r:embed="rId4"/>
            <a:stretch>
              <a:fillRect/>
            </a:stretch>
          </a:blipFill>
        </p:spPr>
      </p:sp>
      <p:sp>
        <p:nvSpPr>
          <p:cNvPr id="5" name="Freeform 5"/>
          <p:cNvSpPr/>
          <p:nvPr/>
        </p:nvSpPr>
        <p:spPr>
          <a:xfrm rot="-4734906" flipH="1">
            <a:off x="-523501" y="-1303722"/>
            <a:ext cx="3753823" cy="3031212"/>
          </a:xfrm>
          <a:custGeom>
            <a:avLst/>
            <a:gdLst/>
            <a:ahLst/>
            <a:cxnLst/>
            <a:rect l="l" t="t" r="r" b="b"/>
            <a:pathLst>
              <a:path w="3753823" h="3031212">
                <a:moveTo>
                  <a:pt x="3753823" y="0"/>
                </a:moveTo>
                <a:lnTo>
                  <a:pt x="0" y="0"/>
                </a:lnTo>
                <a:lnTo>
                  <a:pt x="0" y="3031212"/>
                </a:lnTo>
                <a:lnTo>
                  <a:pt x="3753823" y="3031212"/>
                </a:lnTo>
                <a:lnTo>
                  <a:pt x="3753823" y="0"/>
                </a:lnTo>
                <a:close/>
              </a:path>
            </a:pathLst>
          </a:custGeom>
          <a:blipFill>
            <a:blip r:embed="rId5"/>
            <a:stretch>
              <a:fillRect/>
            </a:stretch>
          </a:blipFill>
        </p:spPr>
      </p:sp>
      <p:sp>
        <p:nvSpPr>
          <p:cNvPr id="6" name="Freeform 6"/>
          <p:cNvSpPr/>
          <p:nvPr/>
        </p:nvSpPr>
        <p:spPr>
          <a:xfrm rot="-646756">
            <a:off x="15998660" y="728391"/>
            <a:ext cx="2734633" cy="5614302"/>
          </a:xfrm>
          <a:custGeom>
            <a:avLst/>
            <a:gdLst/>
            <a:ahLst/>
            <a:cxnLst/>
            <a:rect l="l" t="t" r="r" b="b"/>
            <a:pathLst>
              <a:path w="2734633" h="5614302">
                <a:moveTo>
                  <a:pt x="0" y="0"/>
                </a:moveTo>
                <a:lnTo>
                  <a:pt x="2734633" y="0"/>
                </a:lnTo>
                <a:lnTo>
                  <a:pt x="2734633" y="5614302"/>
                </a:lnTo>
                <a:lnTo>
                  <a:pt x="0" y="5614302"/>
                </a:lnTo>
                <a:lnTo>
                  <a:pt x="0" y="0"/>
                </a:lnTo>
                <a:close/>
              </a:path>
            </a:pathLst>
          </a:custGeom>
          <a:blipFill>
            <a:blip r:embed="rId6"/>
            <a:stretch>
              <a:fillRect/>
            </a:stretch>
          </a:blipFill>
        </p:spPr>
      </p:sp>
      <p:sp>
        <p:nvSpPr>
          <p:cNvPr id="7" name="Freeform 7"/>
          <p:cNvSpPr/>
          <p:nvPr/>
        </p:nvSpPr>
        <p:spPr>
          <a:xfrm rot="-10045849">
            <a:off x="14939712" y="7614576"/>
            <a:ext cx="3579066" cy="3610659"/>
          </a:xfrm>
          <a:custGeom>
            <a:avLst/>
            <a:gdLst/>
            <a:ahLst/>
            <a:cxnLst/>
            <a:rect l="l" t="t" r="r" b="b"/>
            <a:pathLst>
              <a:path w="3579066" h="3610659">
                <a:moveTo>
                  <a:pt x="0" y="0"/>
                </a:moveTo>
                <a:lnTo>
                  <a:pt x="3579065" y="0"/>
                </a:lnTo>
                <a:lnTo>
                  <a:pt x="3579065" y="3610659"/>
                </a:lnTo>
                <a:lnTo>
                  <a:pt x="0" y="3610659"/>
                </a:lnTo>
                <a:lnTo>
                  <a:pt x="0" y="0"/>
                </a:lnTo>
                <a:close/>
              </a:path>
            </a:pathLst>
          </a:custGeom>
          <a:blipFill>
            <a:blip r:embed="rId3"/>
            <a:stretch>
              <a:fillRect/>
            </a:stretch>
          </a:blipFill>
        </p:spPr>
      </p:sp>
      <p:sp>
        <p:nvSpPr>
          <p:cNvPr id="8" name="Freeform 8"/>
          <p:cNvSpPr/>
          <p:nvPr/>
        </p:nvSpPr>
        <p:spPr>
          <a:xfrm rot="7184836" flipH="1">
            <a:off x="-1456972" y="2986773"/>
            <a:ext cx="2913944" cy="5982433"/>
          </a:xfrm>
          <a:custGeom>
            <a:avLst/>
            <a:gdLst/>
            <a:ahLst/>
            <a:cxnLst/>
            <a:rect l="l" t="t" r="r" b="b"/>
            <a:pathLst>
              <a:path w="2913944" h="5982433">
                <a:moveTo>
                  <a:pt x="2913944" y="0"/>
                </a:moveTo>
                <a:lnTo>
                  <a:pt x="0" y="0"/>
                </a:lnTo>
                <a:lnTo>
                  <a:pt x="0" y="5982433"/>
                </a:lnTo>
                <a:lnTo>
                  <a:pt x="2913944" y="5982433"/>
                </a:lnTo>
                <a:lnTo>
                  <a:pt x="2913944" y="0"/>
                </a:lnTo>
                <a:close/>
              </a:path>
            </a:pathLst>
          </a:custGeom>
          <a:blipFill>
            <a:blip r:embed="rId6"/>
            <a:stretch>
              <a:fillRect/>
            </a:stretch>
          </a:blipFill>
        </p:spPr>
      </p:sp>
      <p:sp>
        <p:nvSpPr>
          <p:cNvPr id="9" name="Freeform 9"/>
          <p:cNvSpPr/>
          <p:nvPr/>
        </p:nvSpPr>
        <p:spPr>
          <a:xfrm>
            <a:off x="16099001" y="7186363"/>
            <a:ext cx="630244" cy="630244"/>
          </a:xfrm>
          <a:custGeom>
            <a:avLst/>
            <a:gdLst/>
            <a:ahLst/>
            <a:cxnLst/>
            <a:rect l="l" t="t" r="r" b="b"/>
            <a:pathLst>
              <a:path w="630244" h="630244">
                <a:moveTo>
                  <a:pt x="0" y="0"/>
                </a:moveTo>
                <a:lnTo>
                  <a:pt x="630243" y="0"/>
                </a:lnTo>
                <a:lnTo>
                  <a:pt x="630243" y="630243"/>
                </a:lnTo>
                <a:lnTo>
                  <a:pt x="0" y="63024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Freeform 10"/>
          <p:cNvSpPr/>
          <p:nvPr/>
        </p:nvSpPr>
        <p:spPr>
          <a:xfrm>
            <a:off x="3246042" y="728391"/>
            <a:ext cx="675776" cy="675776"/>
          </a:xfrm>
          <a:custGeom>
            <a:avLst/>
            <a:gdLst/>
            <a:ahLst/>
            <a:cxnLst/>
            <a:rect l="l" t="t" r="r" b="b"/>
            <a:pathLst>
              <a:path w="675776" h="675776">
                <a:moveTo>
                  <a:pt x="0" y="0"/>
                </a:moveTo>
                <a:lnTo>
                  <a:pt x="675777" y="0"/>
                </a:lnTo>
                <a:lnTo>
                  <a:pt x="675777" y="675777"/>
                </a:lnTo>
                <a:lnTo>
                  <a:pt x="0" y="67577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1" name="Freeform 11"/>
          <p:cNvSpPr/>
          <p:nvPr/>
        </p:nvSpPr>
        <p:spPr>
          <a:xfrm>
            <a:off x="12241617" y="210918"/>
            <a:ext cx="3691143" cy="2134256"/>
          </a:xfrm>
          <a:custGeom>
            <a:avLst/>
            <a:gdLst/>
            <a:ahLst/>
            <a:cxnLst/>
            <a:rect l="l" t="t" r="r" b="b"/>
            <a:pathLst>
              <a:path w="3691143" h="2134256">
                <a:moveTo>
                  <a:pt x="0" y="0"/>
                </a:moveTo>
                <a:lnTo>
                  <a:pt x="3691143" y="0"/>
                </a:lnTo>
                <a:lnTo>
                  <a:pt x="3691143" y="2134256"/>
                </a:lnTo>
                <a:lnTo>
                  <a:pt x="0" y="2134256"/>
                </a:lnTo>
                <a:lnTo>
                  <a:pt x="0" y="0"/>
                </a:lnTo>
                <a:close/>
              </a:path>
            </a:pathLst>
          </a:custGeom>
          <a:blipFill>
            <a:blip r:embed="rId9"/>
            <a:stretch>
              <a:fillRect b="-51329"/>
            </a:stretch>
          </a:blipFill>
        </p:spPr>
      </p:sp>
      <p:sp>
        <p:nvSpPr>
          <p:cNvPr id="12" name="TextBox 12"/>
          <p:cNvSpPr txBox="1"/>
          <p:nvPr/>
        </p:nvSpPr>
        <p:spPr>
          <a:xfrm>
            <a:off x="5442225" y="1637019"/>
            <a:ext cx="7403549" cy="874395"/>
          </a:xfrm>
          <a:prstGeom prst="rect">
            <a:avLst/>
          </a:prstGeom>
        </p:spPr>
        <p:txBody>
          <a:bodyPr lIns="0" tIns="0" rIns="0" bIns="0" rtlCol="0" anchor="t">
            <a:spAutoFit/>
          </a:bodyPr>
          <a:lstStyle/>
          <a:p>
            <a:pPr algn="ctr">
              <a:lnSpc>
                <a:spcPts val="6839"/>
              </a:lnSpc>
            </a:pPr>
            <a:r>
              <a:rPr lang="en-US" sz="5999" b="1">
                <a:solidFill>
                  <a:srgbClr val="FFDA66"/>
                </a:solidFill>
                <a:latin typeface="Playpen Sans Bold"/>
                <a:ea typeface="Playpen Sans Bold"/>
                <a:cs typeface="Playpen Sans Bold"/>
                <a:sym typeface="Playpen Sans Bold"/>
              </a:rPr>
              <a:t>Pendahuluan</a:t>
            </a:r>
          </a:p>
        </p:txBody>
      </p:sp>
      <p:sp>
        <p:nvSpPr>
          <p:cNvPr id="13" name="Freeform 13"/>
          <p:cNvSpPr/>
          <p:nvPr/>
        </p:nvSpPr>
        <p:spPr>
          <a:xfrm rot="1616795" flipV="1">
            <a:off x="2063189" y="8038644"/>
            <a:ext cx="4567819" cy="2641159"/>
          </a:xfrm>
          <a:custGeom>
            <a:avLst/>
            <a:gdLst/>
            <a:ahLst/>
            <a:cxnLst/>
            <a:rect l="l" t="t" r="r" b="b"/>
            <a:pathLst>
              <a:path w="4567819" h="2641159">
                <a:moveTo>
                  <a:pt x="0" y="2641159"/>
                </a:moveTo>
                <a:lnTo>
                  <a:pt x="4567819" y="2641159"/>
                </a:lnTo>
                <a:lnTo>
                  <a:pt x="4567819" y="0"/>
                </a:lnTo>
                <a:lnTo>
                  <a:pt x="0" y="0"/>
                </a:lnTo>
                <a:lnTo>
                  <a:pt x="0" y="2641159"/>
                </a:lnTo>
                <a:close/>
              </a:path>
            </a:pathLst>
          </a:custGeom>
          <a:blipFill>
            <a:blip r:embed="rId9"/>
            <a:stretch>
              <a:fillRect b="-51329"/>
            </a:stretch>
          </a:blipFill>
        </p:spPr>
      </p:sp>
      <p:sp>
        <p:nvSpPr>
          <p:cNvPr id="14" name="TextBox 14"/>
          <p:cNvSpPr txBox="1"/>
          <p:nvPr/>
        </p:nvSpPr>
        <p:spPr>
          <a:xfrm>
            <a:off x="1028700" y="2711439"/>
            <a:ext cx="16230600" cy="7065010"/>
          </a:xfrm>
          <a:prstGeom prst="rect">
            <a:avLst/>
          </a:prstGeom>
        </p:spPr>
        <p:txBody>
          <a:bodyPr lIns="0" tIns="0" rIns="0" bIns="0" rtlCol="0" anchor="t">
            <a:spAutoFit/>
          </a:bodyPr>
          <a:lstStyle/>
          <a:p>
            <a:pPr algn="just">
              <a:lnSpc>
                <a:spcPts val="2990"/>
              </a:lnSpc>
            </a:pPr>
            <a:r>
              <a:rPr lang="en-US" sz="2600" b="1">
                <a:solidFill>
                  <a:srgbClr val="FFFFFF"/>
                </a:solidFill>
                <a:latin typeface="Playpen Sans Bold"/>
                <a:ea typeface="Playpen Sans Bold"/>
                <a:cs typeface="Playpen Sans Bold"/>
                <a:sym typeface="Playpen Sans Bold"/>
              </a:rPr>
              <a:t>Latar belakang</a:t>
            </a:r>
          </a:p>
          <a:p>
            <a:pPr algn="just">
              <a:lnSpc>
                <a:spcPts val="2990"/>
              </a:lnSpc>
            </a:pPr>
            <a:r>
              <a:rPr lang="en-US" sz="2600" b="1">
                <a:solidFill>
                  <a:srgbClr val="FFFFFF"/>
                </a:solidFill>
                <a:latin typeface="Playpen Sans Bold"/>
                <a:ea typeface="Playpen Sans Bold"/>
                <a:cs typeface="Playpen Sans Bold"/>
                <a:sym typeface="Playpen Sans Bold"/>
              </a:rPr>
              <a:t>           Saat mengembangkan aplikasi perangkat lunak, sering kali kita menemui kesalahan. Kegagalan dalam pengembangan perangkat lunak sering disebut dengan software crisis, yang pada dasarnya berarti aplikasi perangkat lunak yang dibuat tidak sesuai dengan tujuan yang ingin dicapai.Untuk menghindari software crisis, ada beberapa metode untuk membuat aplikasi software , salah satunya adalah Software Development Life Cycle (SDLC).</a:t>
            </a:r>
          </a:p>
          <a:p>
            <a:pPr algn="just">
              <a:lnSpc>
                <a:spcPts val="2990"/>
              </a:lnSpc>
            </a:pPr>
            <a:r>
              <a:rPr lang="en-US" sz="2600" b="1">
                <a:solidFill>
                  <a:srgbClr val="FFFFFF"/>
                </a:solidFill>
                <a:latin typeface="Playpen Sans Bold"/>
                <a:ea typeface="Playpen Sans Bold"/>
                <a:cs typeface="Playpen Sans Bold"/>
                <a:sym typeface="Playpen Sans Bold"/>
              </a:rPr>
              <a:t> SDLC sesuai dengan tahapan pekerjaan yang dilakukan oleh analis sistem dan programmer dalam membangun sistem informasi .</a:t>
            </a:r>
          </a:p>
          <a:p>
            <a:pPr algn="just">
              <a:lnSpc>
                <a:spcPts val="2990"/>
              </a:lnSpc>
            </a:pPr>
            <a:r>
              <a:rPr lang="en-US" sz="2600" b="1">
                <a:solidFill>
                  <a:srgbClr val="FFFFFF"/>
                </a:solidFill>
                <a:latin typeface="Playpen Sans Bold"/>
                <a:ea typeface="Playpen Sans Bold"/>
                <a:cs typeface="Playpen Sans Bold"/>
                <a:sym typeface="Playpen Sans Bold"/>
              </a:rPr>
              <a:t> Secara umum ada 6 tahapan dalam SDLC , yaitu : </a:t>
            </a:r>
          </a:p>
          <a:p>
            <a:pPr algn="just">
              <a:lnSpc>
                <a:spcPts val="2990"/>
              </a:lnSpc>
            </a:pPr>
            <a:r>
              <a:rPr lang="en-US" sz="2600" b="1">
                <a:solidFill>
                  <a:srgbClr val="FFFFFF"/>
                </a:solidFill>
                <a:latin typeface="Playpen Sans Bold"/>
                <a:ea typeface="Playpen Sans Bold"/>
                <a:cs typeface="Playpen Sans Bold"/>
                <a:sym typeface="Playpen Sans Bold"/>
              </a:rPr>
              <a:t>1. Analisis sistem, yaitu melakukan analisis terhadap proses manajemen yang sedang berlangsung.</a:t>
            </a:r>
          </a:p>
          <a:p>
            <a:pPr algn="just">
              <a:lnSpc>
                <a:spcPts val="2990"/>
              </a:lnSpc>
            </a:pPr>
            <a:r>
              <a:rPr lang="en-US" sz="2600" b="1">
                <a:solidFill>
                  <a:srgbClr val="FFFFFF"/>
                </a:solidFill>
                <a:latin typeface="Playpen Sans Bold"/>
                <a:ea typeface="Playpen Sans Bold"/>
                <a:cs typeface="Playpen Sans Bold"/>
                <a:sym typeface="Playpen Sans Bold"/>
              </a:rPr>
              <a:t>2.Spesifikasi desain untuk kebutuhan sistem, yaitu membuat rincian mengenai apa saja yangdiperlukan untuk pengembangan sistem dan menyusun rencana terkait proyek sistem.</a:t>
            </a:r>
          </a:p>
          <a:p>
            <a:pPr algn="just">
              <a:lnSpc>
                <a:spcPts val="2990"/>
              </a:lnSpc>
            </a:pPr>
            <a:r>
              <a:rPr lang="en-US" sz="2600" b="1">
                <a:solidFill>
                  <a:srgbClr val="FFFFFF"/>
                </a:solidFill>
                <a:latin typeface="Playpen Sans Bold"/>
                <a:ea typeface="Playpen Sans Bold"/>
                <a:cs typeface="Playpen Sans Bold"/>
                <a:sym typeface="Playpen Sans Bold"/>
              </a:rPr>
              <a:t>3.Konstruksi sistem, yaitu pembuatan pekerjaan manajemen , desain aliran dan desain pemrogramanyang diperlukan untuk pengembangan sistem informasi.</a:t>
            </a:r>
          </a:p>
          <a:p>
            <a:pPr algn="just">
              <a:lnSpc>
                <a:spcPts val="2990"/>
              </a:lnSpc>
            </a:pPr>
            <a:r>
              <a:rPr lang="en-US" sz="2600" b="1">
                <a:solidFill>
                  <a:srgbClr val="FFFFFF"/>
                </a:solidFill>
                <a:latin typeface="Playpen Sans Bold"/>
                <a:ea typeface="Playpen Sans Bold"/>
                <a:cs typeface="Playpen Sans Bold"/>
                <a:sym typeface="Playpen Sans Bold"/>
              </a:rPr>
              <a:t>4.Terapkan sistem, khususnya langkah untuk mengoperasikan sistem sesuai dengan fungsi masing-masing.</a:t>
            </a:r>
          </a:p>
          <a:p>
            <a:pPr algn="just">
              <a:lnSpc>
                <a:spcPts val="2990"/>
              </a:lnSpc>
            </a:pPr>
            <a:r>
              <a:rPr lang="en-US" sz="2600" b="1">
                <a:solidFill>
                  <a:srgbClr val="FFFFFF"/>
                </a:solidFill>
                <a:latin typeface="Playpen Sans Bold"/>
                <a:ea typeface="Playpen Sans Bold"/>
                <a:cs typeface="Playpen Sans Bold"/>
                <a:sym typeface="Playpen Sans Bold"/>
              </a:rPr>
              <a:t>5.Pengujian sistem, khususnya melakukan pengujian pada sistem yang sudah dibuat.</a:t>
            </a:r>
          </a:p>
          <a:p>
            <a:pPr algn="just">
              <a:lnSpc>
                <a:spcPts val="2990"/>
              </a:lnSpc>
            </a:pPr>
            <a:r>
              <a:rPr lang="en-US" sz="2600" b="1">
                <a:solidFill>
                  <a:srgbClr val="FFFFFF"/>
                </a:solidFill>
                <a:latin typeface="Playpen Sans Bold"/>
                <a:ea typeface="Playpen Sans Bold"/>
                <a:cs typeface="Playpen Sans Bold"/>
                <a:sym typeface="Playpen Sans Bold"/>
              </a:rPr>
              <a:t>6.Pemeliharaan sistem, khususnya implementasi dan pemeliharaan sistem yang telah dibuat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8710" t="-55975" r="-1305" b="-17361"/>
            </a:stretch>
          </a:blipFill>
        </p:spPr>
      </p:sp>
      <p:sp>
        <p:nvSpPr>
          <p:cNvPr id="3" name="Freeform 3"/>
          <p:cNvSpPr/>
          <p:nvPr/>
        </p:nvSpPr>
        <p:spPr>
          <a:xfrm>
            <a:off x="-430279" y="1028700"/>
            <a:ext cx="3839923" cy="3873819"/>
          </a:xfrm>
          <a:custGeom>
            <a:avLst/>
            <a:gdLst/>
            <a:ahLst/>
            <a:cxnLst/>
            <a:rect l="l" t="t" r="r" b="b"/>
            <a:pathLst>
              <a:path w="3839923" h="3873819">
                <a:moveTo>
                  <a:pt x="0" y="0"/>
                </a:moveTo>
                <a:lnTo>
                  <a:pt x="3839923" y="0"/>
                </a:lnTo>
                <a:lnTo>
                  <a:pt x="3839923" y="3873819"/>
                </a:lnTo>
                <a:lnTo>
                  <a:pt x="0" y="3873819"/>
                </a:lnTo>
                <a:lnTo>
                  <a:pt x="0" y="0"/>
                </a:lnTo>
                <a:close/>
              </a:path>
            </a:pathLst>
          </a:custGeom>
          <a:blipFill>
            <a:blip r:embed="rId3"/>
            <a:stretch>
              <a:fillRect/>
            </a:stretch>
          </a:blipFill>
        </p:spPr>
      </p:sp>
      <p:sp>
        <p:nvSpPr>
          <p:cNvPr id="4" name="Freeform 4"/>
          <p:cNvSpPr/>
          <p:nvPr/>
        </p:nvSpPr>
        <p:spPr>
          <a:xfrm rot="-485237">
            <a:off x="15714352" y="3968183"/>
            <a:ext cx="3089896" cy="5617992"/>
          </a:xfrm>
          <a:custGeom>
            <a:avLst/>
            <a:gdLst/>
            <a:ahLst/>
            <a:cxnLst/>
            <a:rect l="l" t="t" r="r" b="b"/>
            <a:pathLst>
              <a:path w="3089896" h="5617992">
                <a:moveTo>
                  <a:pt x="0" y="0"/>
                </a:moveTo>
                <a:lnTo>
                  <a:pt x="3089896" y="0"/>
                </a:lnTo>
                <a:lnTo>
                  <a:pt x="3089896" y="5617992"/>
                </a:lnTo>
                <a:lnTo>
                  <a:pt x="0" y="5617992"/>
                </a:lnTo>
                <a:lnTo>
                  <a:pt x="0" y="0"/>
                </a:lnTo>
                <a:close/>
              </a:path>
            </a:pathLst>
          </a:custGeom>
          <a:blipFill>
            <a:blip r:embed="rId4"/>
            <a:stretch>
              <a:fillRect/>
            </a:stretch>
          </a:blipFill>
        </p:spPr>
      </p:sp>
      <p:sp>
        <p:nvSpPr>
          <p:cNvPr id="5" name="Freeform 5"/>
          <p:cNvSpPr/>
          <p:nvPr/>
        </p:nvSpPr>
        <p:spPr>
          <a:xfrm rot="-4734906" flipH="1">
            <a:off x="-523501" y="-1303722"/>
            <a:ext cx="3753823" cy="3031212"/>
          </a:xfrm>
          <a:custGeom>
            <a:avLst/>
            <a:gdLst/>
            <a:ahLst/>
            <a:cxnLst/>
            <a:rect l="l" t="t" r="r" b="b"/>
            <a:pathLst>
              <a:path w="3753823" h="3031212">
                <a:moveTo>
                  <a:pt x="3753823" y="0"/>
                </a:moveTo>
                <a:lnTo>
                  <a:pt x="0" y="0"/>
                </a:lnTo>
                <a:lnTo>
                  <a:pt x="0" y="3031212"/>
                </a:lnTo>
                <a:lnTo>
                  <a:pt x="3753823" y="3031212"/>
                </a:lnTo>
                <a:lnTo>
                  <a:pt x="3753823" y="0"/>
                </a:lnTo>
                <a:close/>
              </a:path>
            </a:pathLst>
          </a:custGeom>
          <a:blipFill>
            <a:blip r:embed="rId5"/>
            <a:stretch>
              <a:fillRect/>
            </a:stretch>
          </a:blipFill>
        </p:spPr>
      </p:sp>
      <p:sp>
        <p:nvSpPr>
          <p:cNvPr id="6" name="Freeform 6"/>
          <p:cNvSpPr/>
          <p:nvPr/>
        </p:nvSpPr>
        <p:spPr>
          <a:xfrm rot="-646756">
            <a:off x="15998660" y="728391"/>
            <a:ext cx="2734633" cy="5614302"/>
          </a:xfrm>
          <a:custGeom>
            <a:avLst/>
            <a:gdLst/>
            <a:ahLst/>
            <a:cxnLst/>
            <a:rect l="l" t="t" r="r" b="b"/>
            <a:pathLst>
              <a:path w="2734633" h="5614302">
                <a:moveTo>
                  <a:pt x="0" y="0"/>
                </a:moveTo>
                <a:lnTo>
                  <a:pt x="2734633" y="0"/>
                </a:lnTo>
                <a:lnTo>
                  <a:pt x="2734633" y="5614302"/>
                </a:lnTo>
                <a:lnTo>
                  <a:pt x="0" y="5614302"/>
                </a:lnTo>
                <a:lnTo>
                  <a:pt x="0" y="0"/>
                </a:lnTo>
                <a:close/>
              </a:path>
            </a:pathLst>
          </a:custGeom>
          <a:blipFill>
            <a:blip r:embed="rId6"/>
            <a:stretch>
              <a:fillRect/>
            </a:stretch>
          </a:blipFill>
        </p:spPr>
      </p:sp>
      <p:sp>
        <p:nvSpPr>
          <p:cNvPr id="7" name="Freeform 7"/>
          <p:cNvSpPr/>
          <p:nvPr/>
        </p:nvSpPr>
        <p:spPr>
          <a:xfrm rot="-10045849">
            <a:off x="14939712" y="7614576"/>
            <a:ext cx="3579066" cy="3610659"/>
          </a:xfrm>
          <a:custGeom>
            <a:avLst/>
            <a:gdLst/>
            <a:ahLst/>
            <a:cxnLst/>
            <a:rect l="l" t="t" r="r" b="b"/>
            <a:pathLst>
              <a:path w="3579066" h="3610659">
                <a:moveTo>
                  <a:pt x="0" y="0"/>
                </a:moveTo>
                <a:lnTo>
                  <a:pt x="3579065" y="0"/>
                </a:lnTo>
                <a:lnTo>
                  <a:pt x="3579065" y="3610659"/>
                </a:lnTo>
                <a:lnTo>
                  <a:pt x="0" y="3610659"/>
                </a:lnTo>
                <a:lnTo>
                  <a:pt x="0" y="0"/>
                </a:lnTo>
                <a:close/>
              </a:path>
            </a:pathLst>
          </a:custGeom>
          <a:blipFill>
            <a:blip r:embed="rId3"/>
            <a:stretch>
              <a:fillRect/>
            </a:stretch>
          </a:blipFill>
        </p:spPr>
      </p:sp>
      <p:sp>
        <p:nvSpPr>
          <p:cNvPr id="8" name="Freeform 8"/>
          <p:cNvSpPr/>
          <p:nvPr/>
        </p:nvSpPr>
        <p:spPr>
          <a:xfrm rot="7184836" flipH="1">
            <a:off x="-1456972" y="2986773"/>
            <a:ext cx="2913944" cy="5982433"/>
          </a:xfrm>
          <a:custGeom>
            <a:avLst/>
            <a:gdLst/>
            <a:ahLst/>
            <a:cxnLst/>
            <a:rect l="l" t="t" r="r" b="b"/>
            <a:pathLst>
              <a:path w="2913944" h="5982433">
                <a:moveTo>
                  <a:pt x="2913944" y="0"/>
                </a:moveTo>
                <a:lnTo>
                  <a:pt x="0" y="0"/>
                </a:lnTo>
                <a:lnTo>
                  <a:pt x="0" y="5982433"/>
                </a:lnTo>
                <a:lnTo>
                  <a:pt x="2913944" y="5982433"/>
                </a:lnTo>
                <a:lnTo>
                  <a:pt x="2913944" y="0"/>
                </a:lnTo>
                <a:close/>
              </a:path>
            </a:pathLst>
          </a:custGeom>
          <a:blipFill>
            <a:blip r:embed="rId6"/>
            <a:stretch>
              <a:fillRect/>
            </a:stretch>
          </a:blipFill>
        </p:spPr>
      </p:sp>
      <p:sp>
        <p:nvSpPr>
          <p:cNvPr id="9" name="Freeform 9"/>
          <p:cNvSpPr/>
          <p:nvPr/>
        </p:nvSpPr>
        <p:spPr>
          <a:xfrm>
            <a:off x="16099001" y="7186363"/>
            <a:ext cx="630244" cy="630244"/>
          </a:xfrm>
          <a:custGeom>
            <a:avLst/>
            <a:gdLst/>
            <a:ahLst/>
            <a:cxnLst/>
            <a:rect l="l" t="t" r="r" b="b"/>
            <a:pathLst>
              <a:path w="630244" h="630244">
                <a:moveTo>
                  <a:pt x="0" y="0"/>
                </a:moveTo>
                <a:lnTo>
                  <a:pt x="630243" y="0"/>
                </a:lnTo>
                <a:lnTo>
                  <a:pt x="630243" y="630243"/>
                </a:lnTo>
                <a:lnTo>
                  <a:pt x="0" y="63024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Freeform 10"/>
          <p:cNvSpPr/>
          <p:nvPr/>
        </p:nvSpPr>
        <p:spPr>
          <a:xfrm>
            <a:off x="3246042" y="728391"/>
            <a:ext cx="675776" cy="675776"/>
          </a:xfrm>
          <a:custGeom>
            <a:avLst/>
            <a:gdLst/>
            <a:ahLst/>
            <a:cxnLst/>
            <a:rect l="l" t="t" r="r" b="b"/>
            <a:pathLst>
              <a:path w="675776" h="675776">
                <a:moveTo>
                  <a:pt x="0" y="0"/>
                </a:moveTo>
                <a:lnTo>
                  <a:pt x="675777" y="0"/>
                </a:lnTo>
                <a:lnTo>
                  <a:pt x="675777" y="675777"/>
                </a:lnTo>
                <a:lnTo>
                  <a:pt x="0" y="67577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1" name="Freeform 11"/>
          <p:cNvSpPr/>
          <p:nvPr/>
        </p:nvSpPr>
        <p:spPr>
          <a:xfrm>
            <a:off x="12241617" y="210918"/>
            <a:ext cx="3691143" cy="2134256"/>
          </a:xfrm>
          <a:custGeom>
            <a:avLst/>
            <a:gdLst/>
            <a:ahLst/>
            <a:cxnLst/>
            <a:rect l="l" t="t" r="r" b="b"/>
            <a:pathLst>
              <a:path w="3691143" h="2134256">
                <a:moveTo>
                  <a:pt x="0" y="0"/>
                </a:moveTo>
                <a:lnTo>
                  <a:pt x="3691143" y="0"/>
                </a:lnTo>
                <a:lnTo>
                  <a:pt x="3691143" y="2134256"/>
                </a:lnTo>
                <a:lnTo>
                  <a:pt x="0" y="2134256"/>
                </a:lnTo>
                <a:lnTo>
                  <a:pt x="0" y="0"/>
                </a:lnTo>
                <a:close/>
              </a:path>
            </a:pathLst>
          </a:custGeom>
          <a:blipFill>
            <a:blip r:embed="rId9"/>
            <a:stretch>
              <a:fillRect b="-51329"/>
            </a:stretch>
          </a:blipFill>
        </p:spPr>
      </p:sp>
      <p:sp>
        <p:nvSpPr>
          <p:cNvPr id="12" name="TextBox 12"/>
          <p:cNvSpPr txBox="1"/>
          <p:nvPr/>
        </p:nvSpPr>
        <p:spPr>
          <a:xfrm>
            <a:off x="4296812" y="1637019"/>
            <a:ext cx="9694377" cy="874395"/>
          </a:xfrm>
          <a:prstGeom prst="rect">
            <a:avLst/>
          </a:prstGeom>
        </p:spPr>
        <p:txBody>
          <a:bodyPr lIns="0" tIns="0" rIns="0" bIns="0" rtlCol="0" anchor="t">
            <a:spAutoFit/>
          </a:bodyPr>
          <a:lstStyle/>
          <a:p>
            <a:pPr algn="ctr">
              <a:lnSpc>
                <a:spcPts val="6839"/>
              </a:lnSpc>
            </a:pPr>
            <a:r>
              <a:rPr lang="en-US" sz="5999" b="1">
                <a:solidFill>
                  <a:srgbClr val="FFDA66"/>
                </a:solidFill>
                <a:latin typeface="Playpen Sans Bold"/>
                <a:ea typeface="Playpen Sans Bold"/>
                <a:cs typeface="Playpen Sans Bold"/>
                <a:sym typeface="Playpen Sans Bold"/>
              </a:rPr>
              <a:t>Analisis Kebutuhan</a:t>
            </a:r>
          </a:p>
        </p:txBody>
      </p:sp>
      <p:sp>
        <p:nvSpPr>
          <p:cNvPr id="13" name="TextBox 13"/>
          <p:cNvSpPr txBox="1"/>
          <p:nvPr/>
        </p:nvSpPr>
        <p:spPr>
          <a:xfrm>
            <a:off x="712865" y="2940497"/>
            <a:ext cx="16862271" cy="7235825"/>
          </a:xfrm>
          <a:prstGeom prst="rect">
            <a:avLst/>
          </a:prstGeom>
        </p:spPr>
        <p:txBody>
          <a:bodyPr lIns="0" tIns="0" rIns="0" bIns="0" rtlCol="0" anchor="t">
            <a:spAutoFit/>
          </a:bodyPr>
          <a:lstStyle/>
          <a:p>
            <a:pPr algn="l">
              <a:lnSpc>
                <a:spcPts val="2875"/>
              </a:lnSpc>
            </a:pPr>
            <a:r>
              <a:rPr lang="en-US" sz="2500" b="1">
                <a:solidFill>
                  <a:srgbClr val="FFFFFF"/>
                </a:solidFill>
                <a:latin typeface="Playpen Sans Bold"/>
                <a:ea typeface="Playpen Sans Bold"/>
                <a:cs typeface="Playpen Sans Bold"/>
                <a:sym typeface="Playpen Sans Bold"/>
              </a:rPr>
              <a:t> Pada penerapan Software Development Life Cycle (SDLC) model waterfall sebelum proses perancangan sistem dilakukan yang pertama adalah analisa terhadap permasalahan yang diangkat dalam Tugas ini. Analisa terhadap permasalahan perlu dilakukan untuk dapat menghasilkan langkah – langkah dalam penyelesaiannya, fitur – fitur yang dibutuhkan pada aplikasi, dan metode yang tepat untuk membuat aplikasi. Sedangkan analisa terhadap kebutuhan sistem diperlukan agar sistem aplikasi dapat terstruktur dalam penerapannya.</a:t>
            </a:r>
          </a:p>
          <a:p>
            <a:pPr algn="l">
              <a:lnSpc>
                <a:spcPts val="2875"/>
              </a:lnSpc>
            </a:pPr>
            <a:r>
              <a:rPr lang="en-US" sz="2500" b="1">
                <a:solidFill>
                  <a:srgbClr val="FFFFFF"/>
                </a:solidFill>
                <a:latin typeface="Playpen Sans Bold"/>
                <a:ea typeface="Playpen Sans Bold"/>
                <a:cs typeface="Playpen Sans Bold"/>
                <a:sym typeface="Playpen Sans Bold"/>
              </a:rPr>
              <a:t> kebutuhan aplikasi yang akan dirancang dan dibangun dapat dijelaskan ke dalam poin – poin sebagai berikut:</a:t>
            </a:r>
          </a:p>
          <a:p>
            <a:pPr algn="l">
              <a:lnSpc>
                <a:spcPts val="2875"/>
              </a:lnSpc>
            </a:pPr>
            <a:r>
              <a:rPr lang="en-US" sz="2500" b="1">
                <a:solidFill>
                  <a:srgbClr val="FFFFFF"/>
                </a:solidFill>
                <a:latin typeface="Playpen Sans Bold"/>
                <a:ea typeface="Playpen Sans Bold"/>
                <a:cs typeface="Playpen Sans Bold"/>
                <a:sym typeface="Playpen Sans Bold"/>
              </a:rPr>
              <a:t>a.Fitur</a:t>
            </a:r>
          </a:p>
          <a:p>
            <a:pPr algn="l">
              <a:lnSpc>
                <a:spcPts val="2875"/>
              </a:lnSpc>
            </a:pPr>
            <a:r>
              <a:rPr lang="en-US" sz="2500" b="1">
                <a:solidFill>
                  <a:srgbClr val="FFFFFF"/>
                </a:solidFill>
                <a:latin typeface="Playpen Sans Bold"/>
                <a:ea typeface="Playpen Sans Bold"/>
                <a:cs typeface="Playpen Sans Bold"/>
                <a:sym typeface="Playpen Sans Bold"/>
              </a:rPr>
              <a:t>-Fitur yang akan dirancang dan dibangun dibagi menjadi beberapa kategori mengecek Jumlah hari bekerja dan menampilkan gaji bulanan.</a:t>
            </a:r>
          </a:p>
          <a:p>
            <a:pPr algn="l">
              <a:lnSpc>
                <a:spcPts val="2875"/>
              </a:lnSpc>
            </a:pPr>
            <a:r>
              <a:rPr lang="en-US" sz="2500" b="1">
                <a:solidFill>
                  <a:srgbClr val="FFFFFF"/>
                </a:solidFill>
                <a:latin typeface="Playpen Sans Bold"/>
                <a:ea typeface="Playpen Sans Bold"/>
                <a:cs typeface="Playpen Sans Bold"/>
                <a:sym typeface="Playpen Sans Bold"/>
              </a:rPr>
              <a:t>-Aplikasi menyimpan data absensi setiap karyawan, termasuk waktu masuk dan pulang.</a:t>
            </a:r>
          </a:p>
          <a:p>
            <a:pPr algn="l">
              <a:lnSpc>
                <a:spcPts val="2875"/>
              </a:lnSpc>
            </a:pPr>
            <a:r>
              <a:rPr lang="en-US" sz="2500" b="1">
                <a:solidFill>
                  <a:srgbClr val="FFFFFF"/>
                </a:solidFill>
                <a:latin typeface="Playpen Sans Bold"/>
                <a:ea typeface="Playpen Sans Bold"/>
                <a:cs typeface="Playpen Sans Bold"/>
                <a:sym typeface="Playpen Sans Bold"/>
              </a:rPr>
              <a:t>- Karyawan dapat melakukan absensi melalui aplikasi dengan menekan tombol “Masuk” dan “Pulang”.</a:t>
            </a:r>
          </a:p>
          <a:p>
            <a:pPr algn="l">
              <a:lnSpc>
                <a:spcPts val="2875"/>
              </a:lnSpc>
            </a:pPr>
            <a:r>
              <a:rPr lang="en-US" sz="2500" b="1">
                <a:solidFill>
                  <a:srgbClr val="FFFFFF"/>
                </a:solidFill>
                <a:latin typeface="Playpen Sans Bold"/>
                <a:ea typeface="Playpen Sans Bold"/>
                <a:cs typeface="Playpen Sans Bold"/>
                <a:sym typeface="Playpen Sans Bold"/>
              </a:rPr>
              <a:t>- Login autentikasi untuk admin dan karyawan untuk menjaga keamanan data.</a:t>
            </a:r>
          </a:p>
          <a:p>
            <a:pPr algn="l">
              <a:lnSpc>
                <a:spcPts val="2875"/>
              </a:lnSpc>
            </a:pPr>
            <a:r>
              <a:rPr lang="en-US" sz="2500" b="1">
                <a:solidFill>
                  <a:srgbClr val="FFFFFF"/>
                </a:solidFill>
                <a:latin typeface="Playpen Sans Bold"/>
                <a:ea typeface="Playpen Sans Bold"/>
                <a:cs typeface="Playpen Sans Bold"/>
                <a:sym typeface="Playpen Sans Bold"/>
              </a:rPr>
              <a:t>- Karyawan dapat melihat jumlah hari kerja yang hadir dan karyawan dapat melihat slip gaji mereka, slip gaji dapat di unduh dengan format PDF</a:t>
            </a:r>
          </a:p>
          <a:p>
            <a:pPr algn="l">
              <a:lnSpc>
                <a:spcPts val="2875"/>
              </a:lnSpc>
            </a:pPr>
            <a:r>
              <a:rPr lang="en-US" sz="2500" b="1">
                <a:solidFill>
                  <a:srgbClr val="FFFFFF"/>
                </a:solidFill>
                <a:latin typeface="Playpen Sans Bold"/>
                <a:ea typeface="Playpen Sans Bold"/>
                <a:cs typeface="Playpen Sans Bold"/>
                <a:sym typeface="Playpen Sans Bold"/>
              </a:rPr>
              <a:t>b.Format media</a:t>
            </a:r>
          </a:p>
          <a:p>
            <a:pPr algn="l">
              <a:lnSpc>
                <a:spcPts val="2875"/>
              </a:lnSpc>
            </a:pPr>
            <a:r>
              <a:rPr lang="en-US" sz="2500" b="1">
                <a:solidFill>
                  <a:srgbClr val="FFFFFF"/>
                </a:solidFill>
                <a:latin typeface="Playpen Sans Bold"/>
                <a:ea typeface="Playpen Sans Bold"/>
                <a:cs typeface="Playpen Sans Bold"/>
                <a:sym typeface="Playpen Sans Bold"/>
              </a:rPr>
              <a:t>-Teks</a:t>
            </a:r>
          </a:p>
          <a:p>
            <a:pPr algn="l">
              <a:lnSpc>
                <a:spcPts val="2875"/>
              </a:lnSpc>
            </a:pPr>
            <a:r>
              <a:rPr lang="en-US" sz="2500" b="1">
                <a:solidFill>
                  <a:srgbClr val="FFFFFF"/>
                </a:solidFill>
                <a:latin typeface="Playpen Sans Bold"/>
                <a:ea typeface="Playpen Sans Bold"/>
                <a:cs typeface="Playpen Sans Bold"/>
                <a:sym typeface="Playpen Sans Bold"/>
              </a:rPr>
              <a:t>-Gambar</a:t>
            </a:r>
          </a:p>
          <a:p>
            <a:pPr algn="l">
              <a:lnSpc>
                <a:spcPts val="2875"/>
              </a:lnSpc>
            </a:pPr>
            <a:r>
              <a:rPr lang="en-US" sz="2500" b="1">
                <a:solidFill>
                  <a:srgbClr val="FFFFFF"/>
                </a:solidFill>
                <a:latin typeface="Playpen Sans Bold"/>
                <a:ea typeface="Playpen Sans Bold"/>
                <a:cs typeface="Playpen Sans Bold"/>
                <a:sym typeface="Playpen Sans Bold"/>
              </a:rPr>
              <a:t>-Website</a:t>
            </a:r>
          </a:p>
        </p:txBody>
      </p:sp>
      <p:sp>
        <p:nvSpPr>
          <p:cNvPr id="14" name="Freeform 14"/>
          <p:cNvSpPr/>
          <p:nvPr/>
        </p:nvSpPr>
        <p:spPr>
          <a:xfrm rot="1616795" flipV="1">
            <a:off x="2756466" y="8099326"/>
            <a:ext cx="4567819" cy="2641159"/>
          </a:xfrm>
          <a:custGeom>
            <a:avLst/>
            <a:gdLst/>
            <a:ahLst/>
            <a:cxnLst/>
            <a:rect l="l" t="t" r="r" b="b"/>
            <a:pathLst>
              <a:path w="4567819" h="2641159">
                <a:moveTo>
                  <a:pt x="0" y="2641159"/>
                </a:moveTo>
                <a:lnTo>
                  <a:pt x="4567819" y="2641159"/>
                </a:lnTo>
                <a:lnTo>
                  <a:pt x="4567819" y="0"/>
                </a:lnTo>
                <a:lnTo>
                  <a:pt x="0" y="0"/>
                </a:lnTo>
                <a:lnTo>
                  <a:pt x="0" y="2641159"/>
                </a:lnTo>
                <a:close/>
              </a:path>
            </a:pathLst>
          </a:custGeom>
          <a:blipFill>
            <a:blip r:embed="rId9"/>
            <a:stretch>
              <a:fillRect b="-51329"/>
            </a:stretch>
          </a:blipFill>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8710" t="-55975" r="-1305" b="-17361"/>
            </a:stretch>
          </a:blipFill>
        </p:spPr>
      </p:sp>
      <p:sp>
        <p:nvSpPr>
          <p:cNvPr id="3" name="Freeform 3"/>
          <p:cNvSpPr/>
          <p:nvPr/>
        </p:nvSpPr>
        <p:spPr>
          <a:xfrm>
            <a:off x="-430279" y="1028700"/>
            <a:ext cx="3255453" cy="3284189"/>
          </a:xfrm>
          <a:custGeom>
            <a:avLst/>
            <a:gdLst/>
            <a:ahLst/>
            <a:cxnLst/>
            <a:rect l="l" t="t" r="r" b="b"/>
            <a:pathLst>
              <a:path w="3255453" h="3284189">
                <a:moveTo>
                  <a:pt x="0" y="0"/>
                </a:moveTo>
                <a:lnTo>
                  <a:pt x="3255453" y="0"/>
                </a:lnTo>
                <a:lnTo>
                  <a:pt x="3255453" y="3284189"/>
                </a:lnTo>
                <a:lnTo>
                  <a:pt x="0" y="3284189"/>
                </a:lnTo>
                <a:lnTo>
                  <a:pt x="0" y="0"/>
                </a:lnTo>
                <a:close/>
              </a:path>
            </a:pathLst>
          </a:custGeom>
          <a:blipFill>
            <a:blip r:embed="rId3"/>
            <a:stretch>
              <a:fillRect/>
            </a:stretch>
          </a:blipFill>
        </p:spPr>
      </p:sp>
      <p:sp>
        <p:nvSpPr>
          <p:cNvPr id="4" name="Freeform 4"/>
          <p:cNvSpPr/>
          <p:nvPr/>
        </p:nvSpPr>
        <p:spPr>
          <a:xfrm rot="-485237">
            <a:off x="15714352" y="3968183"/>
            <a:ext cx="3089896" cy="5617992"/>
          </a:xfrm>
          <a:custGeom>
            <a:avLst/>
            <a:gdLst/>
            <a:ahLst/>
            <a:cxnLst/>
            <a:rect l="l" t="t" r="r" b="b"/>
            <a:pathLst>
              <a:path w="3089896" h="5617992">
                <a:moveTo>
                  <a:pt x="0" y="0"/>
                </a:moveTo>
                <a:lnTo>
                  <a:pt x="3089896" y="0"/>
                </a:lnTo>
                <a:lnTo>
                  <a:pt x="3089896" y="5617992"/>
                </a:lnTo>
                <a:lnTo>
                  <a:pt x="0" y="5617992"/>
                </a:lnTo>
                <a:lnTo>
                  <a:pt x="0" y="0"/>
                </a:lnTo>
                <a:close/>
              </a:path>
            </a:pathLst>
          </a:custGeom>
          <a:blipFill>
            <a:blip r:embed="rId4"/>
            <a:stretch>
              <a:fillRect/>
            </a:stretch>
          </a:blipFill>
        </p:spPr>
      </p:sp>
      <p:sp>
        <p:nvSpPr>
          <p:cNvPr id="5" name="Freeform 5"/>
          <p:cNvSpPr/>
          <p:nvPr/>
        </p:nvSpPr>
        <p:spPr>
          <a:xfrm rot="-4734906" flipH="1">
            <a:off x="-899929" y="-1304688"/>
            <a:ext cx="3753823" cy="3031212"/>
          </a:xfrm>
          <a:custGeom>
            <a:avLst/>
            <a:gdLst/>
            <a:ahLst/>
            <a:cxnLst/>
            <a:rect l="l" t="t" r="r" b="b"/>
            <a:pathLst>
              <a:path w="3753823" h="3031212">
                <a:moveTo>
                  <a:pt x="3753823" y="0"/>
                </a:moveTo>
                <a:lnTo>
                  <a:pt x="0" y="0"/>
                </a:lnTo>
                <a:lnTo>
                  <a:pt x="0" y="3031212"/>
                </a:lnTo>
                <a:lnTo>
                  <a:pt x="3753823" y="3031212"/>
                </a:lnTo>
                <a:lnTo>
                  <a:pt x="3753823" y="0"/>
                </a:lnTo>
                <a:close/>
              </a:path>
            </a:pathLst>
          </a:custGeom>
          <a:blipFill>
            <a:blip r:embed="rId5"/>
            <a:stretch>
              <a:fillRect/>
            </a:stretch>
          </a:blipFill>
        </p:spPr>
      </p:sp>
      <p:sp>
        <p:nvSpPr>
          <p:cNvPr id="6" name="Freeform 6"/>
          <p:cNvSpPr/>
          <p:nvPr/>
        </p:nvSpPr>
        <p:spPr>
          <a:xfrm rot="-132677">
            <a:off x="15998660" y="728391"/>
            <a:ext cx="2734633" cy="5614302"/>
          </a:xfrm>
          <a:custGeom>
            <a:avLst/>
            <a:gdLst/>
            <a:ahLst/>
            <a:cxnLst/>
            <a:rect l="l" t="t" r="r" b="b"/>
            <a:pathLst>
              <a:path w="2734633" h="5614302">
                <a:moveTo>
                  <a:pt x="0" y="0"/>
                </a:moveTo>
                <a:lnTo>
                  <a:pt x="2734633" y="0"/>
                </a:lnTo>
                <a:lnTo>
                  <a:pt x="2734633" y="5614302"/>
                </a:lnTo>
                <a:lnTo>
                  <a:pt x="0" y="5614302"/>
                </a:lnTo>
                <a:lnTo>
                  <a:pt x="0" y="0"/>
                </a:lnTo>
                <a:close/>
              </a:path>
            </a:pathLst>
          </a:custGeom>
          <a:blipFill>
            <a:blip r:embed="rId6"/>
            <a:stretch>
              <a:fillRect/>
            </a:stretch>
          </a:blipFill>
        </p:spPr>
      </p:sp>
      <p:sp>
        <p:nvSpPr>
          <p:cNvPr id="7" name="Freeform 7"/>
          <p:cNvSpPr/>
          <p:nvPr/>
        </p:nvSpPr>
        <p:spPr>
          <a:xfrm rot="-10045849">
            <a:off x="14939712" y="7614576"/>
            <a:ext cx="3579066" cy="3610659"/>
          </a:xfrm>
          <a:custGeom>
            <a:avLst/>
            <a:gdLst/>
            <a:ahLst/>
            <a:cxnLst/>
            <a:rect l="l" t="t" r="r" b="b"/>
            <a:pathLst>
              <a:path w="3579066" h="3610659">
                <a:moveTo>
                  <a:pt x="0" y="0"/>
                </a:moveTo>
                <a:lnTo>
                  <a:pt x="3579065" y="0"/>
                </a:lnTo>
                <a:lnTo>
                  <a:pt x="3579065" y="3610659"/>
                </a:lnTo>
                <a:lnTo>
                  <a:pt x="0" y="3610659"/>
                </a:lnTo>
                <a:lnTo>
                  <a:pt x="0" y="0"/>
                </a:lnTo>
                <a:close/>
              </a:path>
            </a:pathLst>
          </a:custGeom>
          <a:blipFill>
            <a:blip r:embed="rId3"/>
            <a:stretch>
              <a:fillRect/>
            </a:stretch>
          </a:blipFill>
        </p:spPr>
      </p:sp>
      <p:sp>
        <p:nvSpPr>
          <p:cNvPr id="8" name="Freeform 8"/>
          <p:cNvSpPr/>
          <p:nvPr/>
        </p:nvSpPr>
        <p:spPr>
          <a:xfrm rot="8100000" flipH="1">
            <a:off x="-1456972" y="2986773"/>
            <a:ext cx="2913944" cy="5982433"/>
          </a:xfrm>
          <a:custGeom>
            <a:avLst/>
            <a:gdLst/>
            <a:ahLst/>
            <a:cxnLst/>
            <a:rect l="l" t="t" r="r" b="b"/>
            <a:pathLst>
              <a:path w="2913944" h="5982433">
                <a:moveTo>
                  <a:pt x="2913944" y="0"/>
                </a:moveTo>
                <a:lnTo>
                  <a:pt x="0" y="0"/>
                </a:lnTo>
                <a:lnTo>
                  <a:pt x="0" y="5982433"/>
                </a:lnTo>
                <a:lnTo>
                  <a:pt x="2913944" y="5982433"/>
                </a:lnTo>
                <a:lnTo>
                  <a:pt x="2913944" y="0"/>
                </a:lnTo>
                <a:close/>
              </a:path>
            </a:pathLst>
          </a:custGeom>
          <a:blipFill>
            <a:blip r:embed="rId6"/>
            <a:stretch>
              <a:fillRect/>
            </a:stretch>
          </a:blipFill>
        </p:spPr>
      </p:sp>
      <p:sp>
        <p:nvSpPr>
          <p:cNvPr id="9" name="Freeform 9"/>
          <p:cNvSpPr/>
          <p:nvPr/>
        </p:nvSpPr>
        <p:spPr>
          <a:xfrm>
            <a:off x="16099001" y="7186363"/>
            <a:ext cx="630244" cy="630244"/>
          </a:xfrm>
          <a:custGeom>
            <a:avLst/>
            <a:gdLst/>
            <a:ahLst/>
            <a:cxnLst/>
            <a:rect l="l" t="t" r="r" b="b"/>
            <a:pathLst>
              <a:path w="630244" h="630244">
                <a:moveTo>
                  <a:pt x="0" y="0"/>
                </a:moveTo>
                <a:lnTo>
                  <a:pt x="630243" y="0"/>
                </a:lnTo>
                <a:lnTo>
                  <a:pt x="630243" y="630243"/>
                </a:lnTo>
                <a:lnTo>
                  <a:pt x="0" y="63024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Freeform 10"/>
          <p:cNvSpPr/>
          <p:nvPr/>
        </p:nvSpPr>
        <p:spPr>
          <a:xfrm>
            <a:off x="3246042" y="728391"/>
            <a:ext cx="675776" cy="675776"/>
          </a:xfrm>
          <a:custGeom>
            <a:avLst/>
            <a:gdLst/>
            <a:ahLst/>
            <a:cxnLst/>
            <a:rect l="l" t="t" r="r" b="b"/>
            <a:pathLst>
              <a:path w="675776" h="675776">
                <a:moveTo>
                  <a:pt x="0" y="0"/>
                </a:moveTo>
                <a:lnTo>
                  <a:pt x="675777" y="0"/>
                </a:lnTo>
                <a:lnTo>
                  <a:pt x="675777" y="675777"/>
                </a:lnTo>
                <a:lnTo>
                  <a:pt x="0" y="67577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1" name="Freeform 11"/>
          <p:cNvSpPr/>
          <p:nvPr/>
        </p:nvSpPr>
        <p:spPr>
          <a:xfrm rot="-1101683">
            <a:off x="13439707" y="-164071"/>
            <a:ext cx="3086985" cy="1784926"/>
          </a:xfrm>
          <a:custGeom>
            <a:avLst/>
            <a:gdLst/>
            <a:ahLst/>
            <a:cxnLst/>
            <a:rect l="l" t="t" r="r" b="b"/>
            <a:pathLst>
              <a:path w="3086985" h="1784926">
                <a:moveTo>
                  <a:pt x="0" y="0"/>
                </a:moveTo>
                <a:lnTo>
                  <a:pt x="3086985" y="0"/>
                </a:lnTo>
                <a:lnTo>
                  <a:pt x="3086985" y="1784925"/>
                </a:lnTo>
                <a:lnTo>
                  <a:pt x="0" y="1784925"/>
                </a:lnTo>
                <a:lnTo>
                  <a:pt x="0" y="0"/>
                </a:lnTo>
                <a:close/>
              </a:path>
            </a:pathLst>
          </a:custGeom>
          <a:blipFill>
            <a:blip r:embed="rId9"/>
            <a:stretch>
              <a:fillRect b="-51329"/>
            </a:stretch>
          </a:blipFill>
        </p:spPr>
      </p:sp>
      <p:sp>
        <p:nvSpPr>
          <p:cNvPr id="12" name="Freeform 12"/>
          <p:cNvSpPr/>
          <p:nvPr/>
        </p:nvSpPr>
        <p:spPr>
          <a:xfrm rot="1616795" flipV="1">
            <a:off x="1361354" y="8330159"/>
            <a:ext cx="3769377" cy="2179492"/>
          </a:xfrm>
          <a:custGeom>
            <a:avLst/>
            <a:gdLst/>
            <a:ahLst/>
            <a:cxnLst/>
            <a:rect l="l" t="t" r="r" b="b"/>
            <a:pathLst>
              <a:path w="3769377" h="2179492">
                <a:moveTo>
                  <a:pt x="0" y="2179492"/>
                </a:moveTo>
                <a:lnTo>
                  <a:pt x="3769377" y="2179492"/>
                </a:lnTo>
                <a:lnTo>
                  <a:pt x="3769377" y="0"/>
                </a:lnTo>
                <a:lnTo>
                  <a:pt x="0" y="0"/>
                </a:lnTo>
                <a:lnTo>
                  <a:pt x="0" y="2179492"/>
                </a:lnTo>
                <a:close/>
              </a:path>
            </a:pathLst>
          </a:custGeom>
          <a:blipFill>
            <a:blip r:embed="rId9"/>
            <a:stretch>
              <a:fillRect b="-51329"/>
            </a:stretch>
          </a:blipFill>
        </p:spPr>
      </p:sp>
      <p:sp>
        <p:nvSpPr>
          <p:cNvPr id="13" name="Freeform 13"/>
          <p:cNvSpPr/>
          <p:nvPr/>
        </p:nvSpPr>
        <p:spPr>
          <a:xfrm>
            <a:off x="8879015" y="2670795"/>
            <a:ext cx="7715900" cy="7104790"/>
          </a:xfrm>
          <a:custGeom>
            <a:avLst/>
            <a:gdLst/>
            <a:ahLst/>
            <a:cxnLst/>
            <a:rect l="l" t="t" r="r" b="b"/>
            <a:pathLst>
              <a:path w="7715900" h="7104790">
                <a:moveTo>
                  <a:pt x="0" y="0"/>
                </a:moveTo>
                <a:lnTo>
                  <a:pt x="7715900" y="0"/>
                </a:lnTo>
                <a:lnTo>
                  <a:pt x="7715900" y="7104790"/>
                </a:lnTo>
                <a:lnTo>
                  <a:pt x="0" y="7104790"/>
                </a:lnTo>
                <a:lnTo>
                  <a:pt x="0" y="0"/>
                </a:lnTo>
                <a:close/>
              </a:path>
            </a:pathLst>
          </a:custGeom>
          <a:blipFill>
            <a:blip r:embed="rId10"/>
            <a:stretch>
              <a:fillRect r="-9398" b="-58410"/>
            </a:stretch>
          </a:blipFill>
        </p:spPr>
      </p:sp>
      <p:sp>
        <p:nvSpPr>
          <p:cNvPr id="14" name="TextBox 14"/>
          <p:cNvSpPr txBox="1"/>
          <p:nvPr/>
        </p:nvSpPr>
        <p:spPr>
          <a:xfrm>
            <a:off x="5442225" y="1637019"/>
            <a:ext cx="7403549" cy="874395"/>
          </a:xfrm>
          <a:prstGeom prst="rect">
            <a:avLst/>
          </a:prstGeom>
        </p:spPr>
        <p:txBody>
          <a:bodyPr lIns="0" tIns="0" rIns="0" bIns="0" rtlCol="0" anchor="t">
            <a:spAutoFit/>
          </a:bodyPr>
          <a:lstStyle/>
          <a:p>
            <a:pPr algn="ctr">
              <a:lnSpc>
                <a:spcPts val="6839"/>
              </a:lnSpc>
            </a:pPr>
            <a:r>
              <a:rPr lang="en-US" sz="5999" b="1">
                <a:solidFill>
                  <a:srgbClr val="FFDA66"/>
                </a:solidFill>
                <a:latin typeface="Playpen Sans Bold"/>
                <a:ea typeface="Playpen Sans Bold"/>
                <a:cs typeface="Playpen Sans Bold"/>
                <a:sym typeface="Playpen Sans Bold"/>
              </a:rPr>
              <a:t>Desain Sistem</a:t>
            </a:r>
          </a:p>
        </p:txBody>
      </p:sp>
      <p:sp>
        <p:nvSpPr>
          <p:cNvPr id="15" name="TextBox 15"/>
          <p:cNvSpPr txBox="1"/>
          <p:nvPr/>
        </p:nvSpPr>
        <p:spPr>
          <a:xfrm>
            <a:off x="1197447" y="2842170"/>
            <a:ext cx="6882793" cy="4093210"/>
          </a:xfrm>
          <a:prstGeom prst="rect">
            <a:avLst/>
          </a:prstGeom>
        </p:spPr>
        <p:txBody>
          <a:bodyPr lIns="0" tIns="0" rIns="0" bIns="0" rtlCol="0" anchor="t">
            <a:spAutoFit/>
          </a:bodyPr>
          <a:lstStyle/>
          <a:p>
            <a:pPr algn="l">
              <a:lnSpc>
                <a:spcPts val="2990"/>
              </a:lnSpc>
            </a:pPr>
            <a:r>
              <a:rPr lang="en-US" sz="2600" b="1">
                <a:solidFill>
                  <a:srgbClr val="FFFFFF"/>
                </a:solidFill>
                <a:latin typeface="Playpen Sans Bold"/>
                <a:ea typeface="Playpen Sans Bold"/>
                <a:cs typeface="Playpen Sans Bold"/>
                <a:sym typeface="Playpen Sans Bold"/>
              </a:rPr>
              <a:t>Use Case Diagram</a:t>
            </a:r>
          </a:p>
          <a:p>
            <a:pPr algn="l">
              <a:lnSpc>
                <a:spcPts val="2990"/>
              </a:lnSpc>
            </a:pPr>
            <a:r>
              <a:rPr lang="en-US" sz="2600" b="1">
                <a:solidFill>
                  <a:srgbClr val="FFFFFF"/>
                </a:solidFill>
                <a:latin typeface="Playpen Sans Bold"/>
                <a:ea typeface="Playpen Sans Bold"/>
                <a:cs typeface="Playpen Sans Bold"/>
                <a:sym typeface="Playpen Sans Bold"/>
              </a:rPr>
              <a:t>           Pada bagian awal, akan dijelaskan tentang use case diagaram. Use case diagram menjelaskan tentang hak akses antara pengguna dengan admin. Dijelaskan bahwa admin memiliki semua akses terhadap aplikasi dari mengubah Jumlah hari kerja pada karyawan, mengedit jam kerja, meng-upload Slip gaji karyawan.</a:t>
            </a:r>
          </a:p>
          <a:p>
            <a:pPr algn="l">
              <a:lnSpc>
                <a:spcPts val="2990"/>
              </a:lnSpc>
            </a:pPr>
            <a:endParaRPr lang="en-US" sz="2600" b="1">
              <a:solidFill>
                <a:srgbClr val="FFFFFF"/>
              </a:solidFill>
              <a:latin typeface="Playpen Sans Bold"/>
              <a:ea typeface="Playpen Sans Bold"/>
              <a:cs typeface="Playpen Sans Bold"/>
              <a:sym typeface="Playpen Sans Bold"/>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8710" t="-55975" r="-1305" b="-17361"/>
            </a:stretch>
          </a:blipFill>
        </p:spPr>
      </p:sp>
      <p:sp>
        <p:nvSpPr>
          <p:cNvPr id="3" name="Freeform 3"/>
          <p:cNvSpPr/>
          <p:nvPr/>
        </p:nvSpPr>
        <p:spPr>
          <a:xfrm>
            <a:off x="-430279" y="1028700"/>
            <a:ext cx="3255453" cy="3284189"/>
          </a:xfrm>
          <a:custGeom>
            <a:avLst/>
            <a:gdLst/>
            <a:ahLst/>
            <a:cxnLst/>
            <a:rect l="l" t="t" r="r" b="b"/>
            <a:pathLst>
              <a:path w="3255453" h="3284189">
                <a:moveTo>
                  <a:pt x="0" y="0"/>
                </a:moveTo>
                <a:lnTo>
                  <a:pt x="3255453" y="0"/>
                </a:lnTo>
                <a:lnTo>
                  <a:pt x="3255453" y="3284189"/>
                </a:lnTo>
                <a:lnTo>
                  <a:pt x="0" y="3284189"/>
                </a:lnTo>
                <a:lnTo>
                  <a:pt x="0" y="0"/>
                </a:lnTo>
                <a:close/>
              </a:path>
            </a:pathLst>
          </a:custGeom>
          <a:blipFill>
            <a:blip r:embed="rId3"/>
            <a:stretch>
              <a:fillRect/>
            </a:stretch>
          </a:blipFill>
        </p:spPr>
      </p:sp>
      <p:sp>
        <p:nvSpPr>
          <p:cNvPr id="4" name="Freeform 4"/>
          <p:cNvSpPr/>
          <p:nvPr/>
        </p:nvSpPr>
        <p:spPr>
          <a:xfrm rot="-485237">
            <a:off x="15714352" y="3968183"/>
            <a:ext cx="3089896" cy="5617992"/>
          </a:xfrm>
          <a:custGeom>
            <a:avLst/>
            <a:gdLst/>
            <a:ahLst/>
            <a:cxnLst/>
            <a:rect l="l" t="t" r="r" b="b"/>
            <a:pathLst>
              <a:path w="3089896" h="5617992">
                <a:moveTo>
                  <a:pt x="0" y="0"/>
                </a:moveTo>
                <a:lnTo>
                  <a:pt x="3089896" y="0"/>
                </a:lnTo>
                <a:lnTo>
                  <a:pt x="3089896" y="5617992"/>
                </a:lnTo>
                <a:lnTo>
                  <a:pt x="0" y="5617992"/>
                </a:lnTo>
                <a:lnTo>
                  <a:pt x="0" y="0"/>
                </a:lnTo>
                <a:close/>
              </a:path>
            </a:pathLst>
          </a:custGeom>
          <a:blipFill>
            <a:blip r:embed="rId4"/>
            <a:stretch>
              <a:fillRect/>
            </a:stretch>
          </a:blipFill>
        </p:spPr>
      </p:sp>
      <p:sp>
        <p:nvSpPr>
          <p:cNvPr id="5" name="Freeform 5"/>
          <p:cNvSpPr/>
          <p:nvPr/>
        </p:nvSpPr>
        <p:spPr>
          <a:xfrm rot="-4734906" flipH="1">
            <a:off x="-899929" y="-1304688"/>
            <a:ext cx="3753823" cy="3031212"/>
          </a:xfrm>
          <a:custGeom>
            <a:avLst/>
            <a:gdLst/>
            <a:ahLst/>
            <a:cxnLst/>
            <a:rect l="l" t="t" r="r" b="b"/>
            <a:pathLst>
              <a:path w="3753823" h="3031212">
                <a:moveTo>
                  <a:pt x="3753823" y="0"/>
                </a:moveTo>
                <a:lnTo>
                  <a:pt x="0" y="0"/>
                </a:lnTo>
                <a:lnTo>
                  <a:pt x="0" y="3031212"/>
                </a:lnTo>
                <a:lnTo>
                  <a:pt x="3753823" y="3031212"/>
                </a:lnTo>
                <a:lnTo>
                  <a:pt x="3753823" y="0"/>
                </a:lnTo>
                <a:close/>
              </a:path>
            </a:pathLst>
          </a:custGeom>
          <a:blipFill>
            <a:blip r:embed="rId5"/>
            <a:stretch>
              <a:fillRect/>
            </a:stretch>
          </a:blipFill>
        </p:spPr>
      </p:sp>
      <p:sp>
        <p:nvSpPr>
          <p:cNvPr id="6" name="Freeform 6"/>
          <p:cNvSpPr/>
          <p:nvPr/>
        </p:nvSpPr>
        <p:spPr>
          <a:xfrm rot="-132677">
            <a:off x="15998660" y="728391"/>
            <a:ext cx="2734633" cy="5614302"/>
          </a:xfrm>
          <a:custGeom>
            <a:avLst/>
            <a:gdLst/>
            <a:ahLst/>
            <a:cxnLst/>
            <a:rect l="l" t="t" r="r" b="b"/>
            <a:pathLst>
              <a:path w="2734633" h="5614302">
                <a:moveTo>
                  <a:pt x="0" y="0"/>
                </a:moveTo>
                <a:lnTo>
                  <a:pt x="2734633" y="0"/>
                </a:lnTo>
                <a:lnTo>
                  <a:pt x="2734633" y="5614302"/>
                </a:lnTo>
                <a:lnTo>
                  <a:pt x="0" y="5614302"/>
                </a:lnTo>
                <a:lnTo>
                  <a:pt x="0" y="0"/>
                </a:lnTo>
                <a:close/>
              </a:path>
            </a:pathLst>
          </a:custGeom>
          <a:blipFill>
            <a:blip r:embed="rId6"/>
            <a:stretch>
              <a:fillRect/>
            </a:stretch>
          </a:blipFill>
        </p:spPr>
      </p:sp>
      <p:sp>
        <p:nvSpPr>
          <p:cNvPr id="7" name="Freeform 7"/>
          <p:cNvSpPr/>
          <p:nvPr/>
        </p:nvSpPr>
        <p:spPr>
          <a:xfrm rot="-10045849">
            <a:off x="14939712" y="7614576"/>
            <a:ext cx="3579066" cy="3610659"/>
          </a:xfrm>
          <a:custGeom>
            <a:avLst/>
            <a:gdLst/>
            <a:ahLst/>
            <a:cxnLst/>
            <a:rect l="l" t="t" r="r" b="b"/>
            <a:pathLst>
              <a:path w="3579066" h="3610659">
                <a:moveTo>
                  <a:pt x="0" y="0"/>
                </a:moveTo>
                <a:lnTo>
                  <a:pt x="3579065" y="0"/>
                </a:lnTo>
                <a:lnTo>
                  <a:pt x="3579065" y="3610659"/>
                </a:lnTo>
                <a:lnTo>
                  <a:pt x="0" y="3610659"/>
                </a:lnTo>
                <a:lnTo>
                  <a:pt x="0" y="0"/>
                </a:lnTo>
                <a:close/>
              </a:path>
            </a:pathLst>
          </a:custGeom>
          <a:blipFill>
            <a:blip r:embed="rId3"/>
            <a:stretch>
              <a:fillRect/>
            </a:stretch>
          </a:blipFill>
        </p:spPr>
      </p:sp>
      <p:sp>
        <p:nvSpPr>
          <p:cNvPr id="8" name="Freeform 8"/>
          <p:cNvSpPr/>
          <p:nvPr/>
        </p:nvSpPr>
        <p:spPr>
          <a:xfrm rot="8100000" flipH="1">
            <a:off x="-1456972" y="2986773"/>
            <a:ext cx="2913944" cy="5982433"/>
          </a:xfrm>
          <a:custGeom>
            <a:avLst/>
            <a:gdLst/>
            <a:ahLst/>
            <a:cxnLst/>
            <a:rect l="l" t="t" r="r" b="b"/>
            <a:pathLst>
              <a:path w="2913944" h="5982433">
                <a:moveTo>
                  <a:pt x="2913944" y="0"/>
                </a:moveTo>
                <a:lnTo>
                  <a:pt x="0" y="0"/>
                </a:lnTo>
                <a:lnTo>
                  <a:pt x="0" y="5982433"/>
                </a:lnTo>
                <a:lnTo>
                  <a:pt x="2913944" y="5982433"/>
                </a:lnTo>
                <a:lnTo>
                  <a:pt x="2913944" y="0"/>
                </a:lnTo>
                <a:close/>
              </a:path>
            </a:pathLst>
          </a:custGeom>
          <a:blipFill>
            <a:blip r:embed="rId6"/>
            <a:stretch>
              <a:fillRect/>
            </a:stretch>
          </a:blipFill>
        </p:spPr>
      </p:sp>
      <p:sp>
        <p:nvSpPr>
          <p:cNvPr id="9" name="Freeform 9"/>
          <p:cNvSpPr/>
          <p:nvPr/>
        </p:nvSpPr>
        <p:spPr>
          <a:xfrm>
            <a:off x="16099001" y="7186363"/>
            <a:ext cx="630244" cy="630244"/>
          </a:xfrm>
          <a:custGeom>
            <a:avLst/>
            <a:gdLst/>
            <a:ahLst/>
            <a:cxnLst/>
            <a:rect l="l" t="t" r="r" b="b"/>
            <a:pathLst>
              <a:path w="630244" h="630244">
                <a:moveTo>
                  <a:pt x="0" y="0"/>
                </a:moveTo>
                <a:lnTo>
                  <a:pt x="630243" y="0"/>
                </a:lnTo>
                <a:lnTo>
                  <a:pt x="630243" y="630243"/>
                </a:lnTo>
                <a:lnTo>
                  <a:pt x="0" y="63024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Freeform 10"/>
          <p:cNvSpPr/>
          <p:nvPr/>
        </p:nvSpPr>
        <p:spPr>
          <a:xfrm>
            <a:off x="3246042" y="728391"/>
            <a:ext cx="675776" cy="675776"/>
          </a:xfrm>
          <a:custGeom>
            <a:avLst/>
            <a:gdLst/>
            <a:ahLst/>
            <a:cxnLst/>
            <a:rect l="l" t="t" r="r" b="b"/>
            <a:pathLst>
              <a:path w="675776" h="675776">
                <a:moveTo>
                  <a:pt x="0" y="0"/>
                </a:moveTo>
                <a:lnTo>
                  <a:pt x="675777" y="0"/>
                </a:lnTo>
                <a:lnTo>
                  <a:pt x="675777" y="675777"/>
                </a:lnTo>
                <a:lnTo>
                  <a:pt x="0" y="67577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1" name="Freeform 11"/>
          <p:cNvSpPr/>
          <p:nvPr/>
        </p:nvSpPr>
        <p:spPr>
          <a:xfrm rot="-1101683">
            <a:off x="13439707" y="-164071"/>
            <a:ext cx="3086985" cy="1784926"/>
          </a:xfrm>
          <a:custGeom>
            <a:avLst/>
            <a:gdLst/>
            <a:ahLst/>
            <a:cxnLst/>
            <a:rect l="l" t="t" r="r" b="b"/>
            <a:pathLst>
              <a:path w="3086985" h="1784926">
                <a:moveTo>
                  <a:pt x="0" y="0"/>
                </a:moveTo>
                <a:lnTo>
                  <a:pt x="3086985" y="0"/>
                </a:lnTo>
                <a:lnTo>
                  <a:pt x="3086985" y="1784925"/>
                </a:lnTo>
                <a:lnTo>
                  <a:pt x="0" y="1784925"/>
                </a:lnTo>
                <a:lnTo>
                  <a:pt x="0" y="0"/>
                </a:lnTo>
                <a:close/>
              </a:path>
            </a:pathLst>
          </a:custGeom>
          <a:blipFill>
            <a:blip r:embed="rId9"/>
            <a:stretch>
              <a:fillRect b="-51329"/>
            </a:stretch>
          </a:blipFill>
        </p:spPr>
      </p:sp>
      <p:sp>
        <p:nvSpPr>
          <p:cNvPr id="12" name="Freeform 12"/>
          <p:cNvSpPr/>
          <p:nvPr/>
        </p:nvSpPr>
        <p:spPr>
          <a:xfrm rot="1616795" flipV="1">
            <a:off x="1361354" y="8330159"/>
            <a:ext cx="3769377" cy="2179492"/>
          </a:xfrm>
          <a:custGeom>
            <a:avLst/>
            <a:gdLst/>
            <a:ahLst/>
            <a:cxnLst/>
            <a:rect l="l" t="t" r="r" b="b"/>
            <a:pathLst>
              <a:path w="3769377" h="2179492">
                <a:moveTo>
                  <a:pt x="0" y="2179492"/>
                </a:moveTo>
                <a:lnTo>
                  <a:pt x="3769377" y="2179492"/>
                </a:lnTo>
                <a:lnTo>
                  <a:pt x="3769377" y="0"/>
                </a:lnTo>
                <a:lnTo>
                  <a:pt x="0" y="0"/>
                </a:lnTo>
                <a:lnTo>
                  <a:pt x="0" y="2179492"/>
                </a:lnTo>
                <a:close/>
              </a:path>
            </a:pathLst>
          </a:custGeom>
          <a:blipFill>
            <a:blip r:embed="rId9"/>
            <a:stretch>
              <a:fillRect b="-51329"/>
            </a:stretch>
          </a:blipFill>
        </p:spPr>
      </p:sp>
      <p:sp>
        <p:nvSpPr>
          <p:cNvPr id="13" name="Freeform 13"/>
          <p:cNvSpPr/>
          <p:nvPr/>
        </p:nvSpPr>
        <p:spPr>
          <a:xfrm>
            <a:off x="7816737" y="2670795"/>
            <a:ext cx="10312596" cy="6295579"/>
          </a:xfrm>
          <a:custGeom>
            <a:avLst/>
            <a:gdLst/>
            <a:ahLst/>
            <a:cxnLst/>
            <a:rect l="l" t="t" r="r" b="b"/>
            <a:pathLst>
              <a:path w="10312596" h="6295579">
                <a:moveTo>
                  <a:pt x="0" y="0"/>
                </a:moveTo>
                <a:lnTo>
                  <a:pt x="10312596" y="0"/>
                </a:lnTo>
                <a:lnTo>
                  <a:pt x="10312596" y="6295578"/>
                </a:lnTo>
                <a:lnTo>
                  <a:pt x="0" y="6295578"/>
                </a:lnTo>
                <a:lnTo>
                  <a:pt x="0" y="0"/>
                </a:lnTo>
                <a:close/>
              </a:path>
            </a:pathLst>
          </a:custGeom>
          <a:blipFill>
            <a:blip r:embed="rId10"/>
            <a:stretch>
              <a:fillRect/>
            </a:stretch>
          </a:blipFill>
        </p:spPr>
      </p:sp>
      <p:sp>
        <p:nvSpPr>
          <p:cNvPr id="14" name="TextBox 14"/>
          <p:cNvSpPr txBox="1"/>
          <p:nvPr/>
        </p:nvSpPr>
        <p:spPr>
          <a:xfrm>
            <a:off x="5442225" y="1637019"/>
            <a:ext cx="7403549" cy="874395"/>
          </a:xfrm>
          <a:prstGeom prst="rect">
            <a:avLst/>
          </a:prstGeom>
        </p:spPr>
        <p:txBody>
          <a:bodyPr lIns="0" tIns="0" rIns="0" bIns="0" rtlCol="0" anchor="t">
            <a:spAutoFit/>
          </a:bodyPr>
          <a:lstStyle/>
          <a:p>
            <a:pPr algn="ctr">
              <a:lnSpc>
                <a:spcPts val="6839"/>
              </a:lnSpc>
            </a:pPr>
            <a:r>
              <a:rPr lang="en-US" sz="5999" b="1">
                <a:solidFill>
                  <a:srgbClr val="FFDA66"/>
                </a:solidFill>
                <a:latin typeface="Playpen Sans Bold"/>
                <a:ea typeface="Playpen Sans Bold"/>
                <a:cs typeface="Playpen Sans Bold"/>
                <a:sym typeface="Playpen Sans Bold"/>
              </a:rPr>
              <a:t>Desain Sistem</a:t>
            </a:r>
          </a:p>
        </p:txBody>
      </p:sp>
      <p:sp>
        <p:nvSpPr>
          <p:cNvPr id="15" name="TextBox 15"/>
          <p:cNvSpPr txBox="1"/>
          <p:nvPr/>
        </p:nvSpPr>
        <p:spPr>
          <a:xfrm>
            <a:off x="1197447" y="2842170"/>
            <a:ext cx="6882793" cy="6693535"/>
          </a:xfrm>
          <a:prstGeom prst="rect">
            <a:avLst/>
          </a:prstGeom>
        </p:spPr>
        <p:txBody>
          <a:bodyPr lIns="0" tIns="0" rIns="0" bIns="0" rtlCol="0" anchor="t">
            <a:spAutoFit/>
          </a:bodyPr>
          <a:lstStyle/>
          <a:p>
            <a:pPr algn="l">
              <a:lnSpc>
                <a:spcPts val="2990"/>
              </a:lnSpc>
            </a:pPr>
            <a:r>
              <a:rPr lang="en-US" sz="2600" b="1">
                <a:solidFill>
                  <a:srgbClr val="FFFFFF"/>
                </a:solidFill>
                <a:latin typeface="Playpen Sans Bold"/>
                <a:ea typeface="Playpen Sans Bold"/>
                <a:cs typeface="Playpen Sans Bold"/>
                <a:sym typeface="Playpen Sans Bold"/>
              </a:rPr>
              <a:t>Activity Diagram</a:t>
            </a:r>
          </a:p>
          <a:p>
            <a:pPr algn="l">
              <a:lnSpc>
                <a:spcPts val="2990"/>
              </a:lnSpc>
            </a:pPr>
            <a:r>
              <a:rPr lang="en-US" sz="2600" b="1">
                <a:solidFill>
                  <a:srgbClr val="FFFFFF"/>
                </a:solidFill>
                <a:latin typeface="Playpen Sans Bold"/>
                <a:ea typeface="Playpen Sans Bold"/>
                <a:cs typeface="Playpen Sans Bold"/>
                <a:sym typeface="Playpen Sans Bold"/>
              </a:rPr>
              <a:t>           Activity diagram merupakan teknik untuk menggambarkan logika prosedural. Activity diagram mempunyai bentuk hampir sama dengan flowchart, didalamnya akan menjelaskan langkah - langkah yang dimulai dari initial state hingga final state.</a:t>
            </a:r>
          </a:p>
          <a:p>
            <a:pPr algn="l">
              <a:lnSpc>
                <a:spcPts val="2990"/>
              </a:lnSpc>
            </a:pPr>
            <a:r>
              <a:rPr lang="en-US" sz="2600" b="1">
                <a:solidFill>
                  <a:srgbClr val="FFFFFF"/>
                </a:solidFill>
                <a:latin typeface="Playpen Sans Bold"/>
                <a:ea typeface="Playpen Sans Bold"/>
                <a:cs typeface="Playpen Sans Bold"/>
                <a:sym typeface="Playpen Sans Bold"/>
              </a:rPr>
              <a:t>Activity Diagram Awal</a:t>
            </a:r>
          </a:p>
          <a:p>
            <a:pPr algn="l">
              <a:lnSpc>
                <a:spcPts val="2990"/>
              </a:lnSpc>
            </a:pPr>
            <a:r>
              <a:rPr lang="en-US" sz="2600" b="1">
                <a:solidFill>
                  <a:srgbClr val="FFFFFF"/>
                </a:solidFill>
                <a:latin typeface="Playpen Sans Bold"/>
                <a:ea typeface="Playpen Sans Bold"/>
                <a:cs typeface="Playpen Sans Bold"/>
                <a:sym typeface="Playpen Sans Bold"/>
              </a:rPr>
              <a:t>           Activity Diagram awal menjelaskan saat pertama kali user membuka aplikasi website dan pengguna akan login terlebih dahulu lalu pada halaman utama terdapat tombol Cek Jumlah Kerja dan Cek Slip Gaji.</a:t>
            </a:r>
          </a:p>
          <a:p>
            <a:pPr algn="l">
              <a:lnSpc>
                <a:spcPts val="2990"/>
              </a:lnSpc>
            </a:pPr>
            <a:endParaRPr lang="en-US" sz="2600" b="1">
              <a:solidFill>
                <a:srgbClr val="FFFFFF"/>
              </a:solidFill>
              <a:latin typeface="Playpen Sans Bold"/>
              <a:ea typeface="Playpen Sans Bold"/>
              <a:cs typeface="Playpen Sans Bold"/>
              <a:sym typeface="Playpen Sans Bold"/>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8710" t="-55975" r="-1305" b="-17361"/>
            </a:stretch>
          </a:blipFill>
        </p:spPr>
      </p:sp>
      <p:sp>
        <p:nvSpPr>
          <p:cNvPr id="3" name="Freeform 3"/>
          <p:cNvSpPr/>
          <p:nvPr/>
        </p:nvSpPr>
        <p:spPr>
          <a:xfrm>
            <a:off x="-430279" y="1028700"/>
            <a:ext cx="3255453" cy="3284189"/>
          </a:xfrm>
          <a:custGeom>
            <a:avLst/>
            <a:gdLst/>
            <a:ahLst/>
            <a:cxnLst/>
            <a:rect l="l" t="t" r="r" b="b"/>
            <a:pathLst>
              <a:path w="3255453" h="3284189">
                <a:moveTo>
                  <a:pt x="0" y="0"/>
                </a:moveTo>
                <a:lnTo>
                  <a:pt x="3255453" y="0"/>
                </a:lnTo>
                <a:lnTo>
                  <a:pt x="3255453" y="3284189"/>
                </a:lnTo>
                <a:lnTo>
                  <a:pt x="0" y="3284189"/>
                </a:lnTo>
                <a:lnTo>
                  <a:pt x="0" y="0"/>
                </a:lnTo>
                <a:close/>
              </a:path>
            </a:pathLst>
          </a:custGeom>
          <a:blipFill>
            <a:blip r:embed="rId3"/>
            <a:stretch>
              <a:fillRect/>
            </a:stretch>
          </a:blipFill>
        </p:spPr>
      </p:sp>
      <p:sp>
        <p:nvSpPr>
          <p:cNvPr id="4" name="Freeform 4"/>
          <p:cNvSpPr/>
          <p:nvPr/>
        </p:nvSpPr>
        <p:spPr>
          <a:xfrm rot="-485237">
            <a:off x="15714352" y="3968183"/>
            <a:ext cx="3089896" cy="5617992"/>
          </a:xfrm>
          <a:custGeom>
            <a:avLst/>
            <a:gdLst/>
            <a:ahLst/>
            <a:cxnLst/>
            <a:rect l="l" t="t" r="r" b="b"/>
            <a:pathLst>
              <a:path w="3089896" h="5617992">
                <a:moveTo>
                  <a:pt x="0" y="0"/>
                </a:moveTo>
                <a:lnTo>
                  <a:pt x="3089896" y="0"/>
                </a:lnTo>
                <a:lnTo>
                  <a:pt x="3089896" y="5617992"/>
                </a:lnTo>
                <a:lnTo>
                  <a:pt x="0" y="5617992"/>
                </a:lnTo>
                <a:lnTo>
                  <a:pt x="0" y="0"/>
                </a:lnTo>
                <a:close/>
              </a:path>
            </a:pathLst>
          </a:custGeom>
          <a:blipFill>
            <a:blip r:embed="rId4"/>
            <a:stretch>
              <a:fillRect/>
            </a:stretch>
          </a:blipFill>
        </p:spPr>
      </p:sp>
      <p:sp>
        <p:nvSpPr>
          <p:cNvPr id="5" name="Freeform 5"/>
          <p:cNvSpPr/>
          <p:nvPr/>
        </p:nvSpPr>
        <p:spPr>
          <a:xfrm rot="-4734906" flipH="1">
            <a:off x="-899929" y="-1304688"/>
            <a:ext cx="3753823" cy="3031212"/>
          </a:xfrm>
          <a:custGeom>
            <a:avLst/>
            <a:gdLst/>
            <a:ahLst/>
            <a:cxnLst/>
            <a:rect l="l" t="t" r="r" b="b"/>
            <a:pathLst>
              <a:path w="3753823" h="3031212">
                <a:moveTo>
                  <a:pt x="3753823" y="0"/>
                </a:moveTo>
                <a:lnTo>
                  <a:pt x="0" y="0"/>
                </a:lnTo>
                <a:lnTo>
                  <a:pt x="0" y="3031212"/>
                </a:lnTo>
                <a:lnTo>
                  <a:pt x="3753823" y="3031212"/>
                </a:lnTo>
                <a:lnTo>
                  <a:pt x="3753823" y="0"/>
                </a:lnTo>
                <a:close/>
              </a:path>
            </a:pathLst>
          </a:custGeom>
          <a:blipFill>
            <a:blip r:embed="rId5"/>
            <a:stretch>
              <a:fillRect/>
            </a:stretch>
          </a:blipFill>
        </p:spPr>
      </p:sp>
      <p:sp>
        <p:nvSpPr>
          <p:cNvPr id="6" name="Freeform 6"/>
          <p:cNvSpPr/>
          <p:nvPr/>
        </p:nvSpPr>
        <p:spPr>
          <a:xfrm rot="-132677">
            <a:off x="15998660" y="728391"/>
            <a:ext cx="2734633" cy="5614302"/>
          </a:xfrm>
          <a:custGeom>
            <a:avLst/>
            <a:gdLst/>
            <a:ahLst/>
            <a:cxnLst/>
            <a:rect l="l" t="t" r="r" b="b"/>
            <a:pathLst>
              <a:path w="2734633" h="5614302">
                <a:moveTo>
                  <a:pt x="0" y="0"/>
                </a:moveTo>
                <a:lnTo>
                  <a:pt x="2734633" y="0"/>
                </a:lnTo>
                <a:lnTo>
                  <a:pt x="2734633" y="5614302"/>
                </a:lnTo>
                <a:lnTo>
                  <a:pt x="0" y="5614302"/>
                </a:lnTo>
                <a:lnTo>
                  <a:pt x="0" y="0"/>
                </a:lnTo>
                <a:close/>
              </a:path>
            </a:pathLst>
          </a:custGeom>
          <a:blipFill>
            <a:blip r:embed="rId6"/>
            <a:stretch>
              <a:fillRect/>
            </a:stretch>
          </a:blipFill>
        </p:spPr>
      </p:sp>
      <p:sp>
        <p:nvSpPr>
          <p:cNvPr id="7" name="Freeform 7"/>
          <p:cNvSpPr/>
          <p:nvPr/>
        </p:nvSpPr>
        <p:spPr>
          <a:xfrm rot="-10045849">
            <a:off x="14939712" y="7614576"/>
            <a:ext cx="3579066" cy="3610659"/>
          </a:xfrm>
          <a:custGeom>
            <a:avLst/>
            <a:gdLst/>
            <a:ahLst/>
            <a:cxnLst/>
            <a:rect l="l" t="t" r="r" b="b"/>
            <a:pathLst>
              <a:path w="3579066" h="3610659">
                <a:moveTo>
                  <a:pt x="0" y="0"/>
                </a:moveTo>
                <a:lnTo>
                  <a:pt x="3579065" y="0"/>
                </a:lnTo>
                <a:lnTo>
                  <a:pt x="3579065" y="3610659"/>
                </a:lnTo>
                <a:lnTo>
                  <a:pt x="0" y="3610659"/>
                </a:lnTo>
                <a:lnTo>
                  <a:pt x="0" y="0"/>
                </a:lnTo>
                <a:close/>
              </a:path>
            </a:pathLst>
          </a:custGeom>
          <a:blipFill>
            <a:blip r:embed="rId3"/>
            <a:stretch>
              <a:fillRect/>
            </a:stretch>
          </a:blipFill>
        </p:spPr>
      </p:sp>
      <p:sp>
        <p:nvSpPr>
          <p:cNvPr id="8" name="Freeform 8"/>
          <p:cNvSpPr/>
          <p:nvPr/>
        </p:nvSpPr>
        <p:spPr>
          <a:xfrm rot="8100000" flipH="1">
            <a:off x="-1456972" y="2986773"/>
            <a:ext cx="2913944" cy="5982433"/>
          </a:xfrm>
          <a:custGeom>
            <a:avLst/>
            <a:gdLst/>
            <a:ahLst/>
            <a:cxnLst/>
            <a:rect l="l" t="t" r="r" b="b"/>
            <a:pathLst>
              <a:path w="2913944" h="5982433">
                <a:moveTo>
                  <a:pt x="2913944" y="0"/>
                </a:moveTo>
                <a:lnTo>
                  <a:pt x="0" y="0"/>
                </a:lnTo>
                <a:lnTo>
                  <a:pt x="0" y="5982433"/>
                </a:lnTo>
                <a:lnTo>
                  <a:pt x="2913944" y="5982433"/>
                </a:lnTo>
                <a:lnTo>
                  <a:pt x="2913944" y="0"/>
                </a:lnTo>
                <a:close/>
              </a:path>
            </a:pathLst>
          </a:custGeom>
          <a:blipFill>
            <a:blip r:embed="rId6"/>
            <a:stretch>
              <a:fillRect/>
            </a:stretch>
          </a:blipFill>
        </p:spPr>
      </p:sp>
      <p:sp>
        <p:nvSpPr>
          <p:cNvPr id="9" name="Freeform 9"/>
          <p:cNvSpPr/>
          <p:nvPr/>
        </p:nvSpPr>
        <p:spPr>
          <a:xfrm>
            <a:off x="16099001" y="7186363"/>
            <a:ext cx="630244" cy="630244"/>
          </a:xfrm>
          <a:custGeom>
            <a:avLst/>
            <a:gdLst/>
            <a:ahLst/>
            <a:cxnLst/>
            <a:rect l="l" t="t" r="r" b="b"/>
            <a:pathLst>
              <a:path w="630244" h="630244">
                <a:moveTo>
                  <a:pt x="0" y="0"/>
                </a:moveTo>
                <a:lnTo>
                  <a:pt x="630243" y="0"/>
                </a:lnTo>
                <a:lnTo>
                  <a:pt x="630243" y="630243"/>
                </a:lnTo>
                <a:lnTo>
                  <a:pt x="0" y="63024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Freeform 10"/>
          <p:cNvSpPr/>
          <p:nvPr/>
        </p:nvSpPr>
        <p:spPr>
          <a:xfrm>
            <a:off x="3246042" y="728391"/>
            <a:ext cx="675776" cy="675776"/>
          </a:xfrm>
          <a:custGeom>
            <a:avLst/>
            <a:gdLst/>
            <a:ahLst/>
            <a:cxnLst/>
            <a:rect l="l" t="t" r="r" b="b"/>
            <a:pathLst>
              <a:path w="675776" h="675776">
                <a:moveTo>
                  <a:pt x="0" y="0"/>
                </a:moveTo>
                <a:lnTo>
                  <a:pt x="675777" y="0"/>
                </a:lnTo>
                <a:lnTo>
                  <a:pt x="675777" y="675777"/>
                </a:lnTo>
                <a:lnTo>
                  <a:pt x="0" y="67577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1" name="Freeform 11"/>
          <p:cNvSpPr/>
          <p:nvPr/>
        </p:nvSpPr>
        <p:spPr>
          <a:xfrm rot="-1101683">
            <a:off x="13439707" y="-164071"/>
            <a:ext cx="3086985" cy="1784926"/>
          </a:xfrm>
          <a:custGeom>
            <a:avLst/>
            <a:gdLst/>
            <a:ahLst/>
            <a:cxnLst/>
            <a:rect l="l" t="t" r="r" b="b"/>
            <a:pathLst>
              <a:path w="3086985" h="1784926">
                <a:moveTo>
                  <a:pt x="0" y="0"/>
                </a:moveTo>
                <a:lnTo>
                  <a:pt x="3086985" y="0"/>
                </a:lnTo>
                <a:lnTo>
                  <a:pt x="3086985" y="1784925"/>
                </a:lnTo>
                <a:lnTo>
                  <a:pt x="0" y="1784925"/>
                </a:lnTo>
                <a:lnTo>
                  <a:pt x="0" y="0"/>
                </a:lnTo>
                <a:close/>
              </a:path>
            </a:pathLst>
          </a:custGeom>
          <a:blipFill>
            <a:blip r:embed="rId9"/>
            <a:stretch>
              <a:fillRect b="-51329"/>
            </a:stretch>
          </a:blipFill>
        </p:spPr>
      </p:sp>
      <p:sp>
        <p:nvSpPr>
          <p:cNvPr id="12" name="Freeform 12"/>
          <p:cNvSpPr/>
          <p:nvPr/>
        </p:nvSpPr>
        <p:spPr>
          <a:xfrm rot="1616795" flipV="1">
            <a:off x="1361354" y="8330159"/>
            <a:ext cx="3769377" cy="2179492"/>
          </a:xfrm>
          <a:custGeom>
            <a:avLst/>
            <a:gdLst/>
            <a:ahLst/>
            <a:cxnLst/>
            <a:rect l="l" t="t" r="r" b="b"/>
            <a:pathLst>
              <a:path w="3769377" h="2179492">
                <a:moveTo>
                  <a:pt x="0" y="2179492"/>
                </a:moveTo>
                <a:lnTo>
                  <a:pt x="3769377" y="2179492"/>
                </a:lnTo>
                <a:lnTo>
                  <a:pt x="3769377" y="0"/>
                </a:lnTo>
                <a:lnTo>
                  <a:pt x="0" y="0"/>
                </a:lnTo>
                <a:lnTo>
                  <a:pt x="0" y="2179492"/>
                </a:lnTo>
                <a:close/>
              </a:path>
            </a:pathLst>
          </a:custGeom>
          <a:blipFill>
            <a:blip r:embed="rId9"/>
            <a:stretch>
              <a:fillRect b="-51329"/>
            </a:stretch>
          </a:blipFill>
        </p:spPr>
      </p:sp>
      <p:sp>
        <p:nvSpPr>
          <p:cNvPr id="13" name="TextBox 13"/>
          <p:cNvSpPr txBox="1"/>
          <p:nvPr/>
        </p:nvSpPr>
        <p:spPr>
          <a:xfrm>
            <a:off x="5442225" y="1637019"/>
            <a:ext cx="7403549" cy="874395"/>
          </a:xfrm>
          <a:prstGeom prst="rect">
            <a:avLst/>
          </a:prstGeom>
        </p:spPr>
        <p:txBody>
          <a:bodyPr lIns="0" tIns="0" rIns="0" bIns="0" rtlCol="0" anchor="t">
            <a:spAutoFit/>
          </a:bodyPr>
          <a:lstStyle/>
          <a:p>
            <a:pPr algn="ctr">
              <a:lnSpc>
                <a:spcPts val="6839"/>
              </a:lnSpc>
            </a:pPr>
            <a:r>
              <a:rPr lang="en-US" sz="5999" b="1">
                <a:solidFill>
                  <a:srgbClr val="FFDA66"/>
                </a:solidFill>
                <a:latin typeface="Playpen Sans Bold"/>
                <a:ea typeface="Playpen Sans Bold"/>
                <a:cs typeface="Playpen Sans Bold"/>
                <a:sym typeface="Playpen Sans Bold"/>
              </a:rPr>
              <a:t>Desain Sistem</a:t>
            </a:r>
          </a:p>
        </p:txBody>
      </p:sp>
      <p:sp>
        <p:nvSpPr>
          <p:cNvPr id="14" name="TextBox 14"/>
          <p:cNvSpPr txBox="1"/>
          <p:nvPr/>
        </p:nvSpPr>
        <p:spPr>
          <a:xfrm>
            <a:off x="4415354" y="3779749"/>
            <a:ext cx="9457293" cy="3350260"/>
          </a:xfrm>
          <a:prstGeom prst="rect">
            <a:avLst/>
          </a:prstGeom>
        </p:spPr>
        <p:txBody>
          <a:bodyPr lIns="0" tIns="0" rIns="0" bIns="0" rtlCol="0" anchor="t">
            <a:spAutoFit/>
          </a:bodyPr>
          <a:lstStyle/>
          <a:p>
            <a:pPr marL="561341" lvl="1" indent="-280670" algn="l">
              <a:lnSpc>
                <a:spcPts val="2990"/>
              </a:lnSpc>
              <a:buFont typeface="Arial"/>
              <a:buChar char="•"/>
            </a:pPr>
            <a:r>
              <a:rPr lang="en-US" sz="2600" b="1">
                <a:solidFill>
                  <a:srgbClr val="FFFFFF"/>
                </a:solidFill>
                <a:latin typeface="Playpen Sans Bold"/>
                <a:ea typeface="Playpen Sans Bold"/>
                <a:cs typeface="Playpen Sans Bold"/>
                <a:sym typeface="Playpen Sans Bold"/>
              </a:rPr>
              <a:t>Bagian Frontend Menggunakan HTML, CSS, dan JavaScript untuk antarmuka web.</a:t>
            </a:r>
          </a:p>
          <a:p>
            <a:pPr marL="561341" lvl="1" indent="-280670" algn="l">
              <a:lnSpc>
                <a:spcPts val="2990"/>
              </a:lnSpc>
              <a:buFont typeface="Arial"/>
              <a:buChar char="•"/>
            </a:pPr>
            <a:r>
              <a:rPr lang="en-US" sz="2600" b="1">
                <a:solidFill>
                  <a:srgbClr val="FFFFFF"/>
                </a:solidFill>
                <a:latin typeface="Playpen Sans Bold"/>
                <a:ea typeface="Playpen Sans Bold"/>
                <a:cs typeface="Playpen Sans Bold"/>
                <a:sym typeface="Playpen Sans Bold"/>
              </a:rPr>
              <a:t>Bagian Backend Menggunakan framework seperti Node.js atau PHP untuk mengelola permintaan data dan logika bisnis.</a:t>
            </a:r>
          </a:p>
          <a:p>
            <a:pPr marL="561341" lvl="1" indent="-280670" algn="l">
              <a:lnSpc>
                <a:spcPts val="2990"/>
              </a:lnSpc>
              <a:buFont typeface="Arial"/>
              <a:buChar char="•"/>
            </a:pPr>
            <a:r>
              <a:rPr lang="en-US" sz="2600" b="1">
                <a:solidFill>
                  <a:srgbClr val="FFFFFF"/>
                </a:solidFill>
                <a:latin typeface="Playpen Sans Bold"/>
                <a:ea typeface="Playpen Sans Bold"/>
                <a:cs typeface="Playpen Sans Bold"/>
                <a:sym typeface="Playpen Sans Bold"/>
              </a:rPr>
              <a:t>Bagian Database SQL seperti MySQL atau PostgreSQL untuk menyimpan data karyawan, waktu masuk, dan waktu pulang.</a:t>
            </a:r>
          </a:p>
          <a:p>
            <a:pPr algn="l">
              <a:lnSpc>
                <a:spcPts val="2990"/>
              </a:lnSpc>
            </a:pPr>
            <a:endParaRPr lang="en-US" sz="2600" b="1">
              <a:solidFill>
                <a:srgbClr val="FFFFFF"/>
              </a:solidFill>
              <a:latin typeface="Playpen Sans Bold"/>
              <a:ea typeface="Playpen Sans Bold"/>
              <a:cs typeface="Playpen Sans Bold"/>
              <a:sym typeface="Playpen Sans Bold"/>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8710" t="-55975" r="-1305" b="-17361"/>
            </a:stretch>
          </a:blipFill>
        </p:spPr>
      </p:sp>
      <p:sp>
        <p:nvSpPr>
          <p:cNvPr id="3" name="Freeform 3"/>
          <p:cNvSpPr/>
          <p:nvPr/>
        </p:nvSpPr>
        <p:spPr>
          <a:xfrm>
            <a:off x="-430279" y="1028700"/>
            <a:ext cx="3255453" cy="3284189"/>
          </a:xfrm>
          <a:custGeom>
            <a:avLst/>
            <a:gdLst/>
            <a:ahLst/>
            <a:cxnLst/>
            <a:rect l="l" t="t" r="r" b="b"/>
            <a:pathLst>
              <a:path w="3255453" h="3284189">
                <a:moveTo>
                  <a:pt x="0" y="0"/>
                </a:moveTo>
                <a:lnTo>
                  <a:pt x="3255453" y="0"/>
                </a:lnTo>
                <a:lnTo>
                  <a:pt x="3255453" y="3284189"/>
                </a:lnTo>
                <a:lnTo>
                  <a:pt x="0" y="3284189"/>
                </a:lnTo>
                <a:lnTo>
                  <a:pt x="0" y="0"/>
                </a:lnTo>
                <a:close/>
              </a:path>
            </a:pathLst>
          </a:custGeom>
          <a:blipFill>
            <a:blip r:embed="rId3"/>
            <a:stretch>
              <a:fillRect/>
            </a:stretch>
          </a:blipFill>
        </p:spPr>
      </p:sp>
      <p:sp>
        <p:nvSpPr>
          <p:cNvPr id="4" name="Freeform 4"/>
          <p:cNvSpPr/>
          <p:nvPr/>
        </p:nvSpPr>
        <p:spPr>
          <a:xfrm rot="-485237">
            <a:off x="15714352" y="3968183"/>
            <a:ext cx="3089896" cy="5617992"/>
          </a:xfrm>
          <a:custGeom>
            <a:avLst/>
            <a:gdLst/>
            <a:ahLst/>
            <a:cxnLst/>
            <a:rect l="l" t="t" r="r" b="b"/>
            <a:pathLst>
              <a:path w="3089896" h="5617992">
                <a:moveTo>
                  <a:pt x="0" y="0"/>
                </a:moveTo>
                <a:lnTo>
                  <a:pt x="3089896" y="0"/>
                </a:lnTo>
                <a:lnTo>
                  <a:pt x="3089896" y="5617992"/>
                </a:lnTo>
                <a:lnTo>
                  <a:pt x="0" y="5617992"/>
                </a:lnTo>
                <a:lnTo>
                  <a:pt x="0" y="0"/>
                </a:lnTo>
                <a:close/>
              </a:path>
            </a:pathLst>
          </a:custGeom>
          <a:blipFill>
            <a:blip r:embed="rId4"/>
            <a:stretch>
              <a:fillRect/>
            </a:stretch>
          </a:blipFill>
        </p:spPr>
      </p:sp>
      <p:sp>
        <p:nvSpPr>
          <p:cNvPr id="5" name="Freeform 5"/>
          <p:cNvSpPr/>
          <p:nvPr/>
        </p:nvSpPr>
        <p:spPr>
          <a:xfrm rot="-4734906" flipH="1">
            <a:off x="-899929" y="-1304688"/>
            <a:ext cx="3753823" cy="3031212"/>
          </a:xfrm>
          <a:custGeom>
            <a:avLst/>
            <a:gdLst/>
            <a:ahLst/>
            <a:cxnLst/>
            <a:rect l="l" t="t" r="r" b="b"/>
            <a:pathLst>
              <a:path w="3753823" h="3031212">
                <a:moveTo>
                  <a:pt x="3753823" y="0"/>
                </a:moveTo>
                <a:lnTo>
                  <a:pt x="0" y="0"/>
                </a:lnTo>
                <a:lnTo>
                  <a:pt x="0" y="3031212"/>
                </a:lnTo>
                <a:lnTo>
                  <a:pt x="3753823" y="3031212"/>
                </a:lnTo>
                <a:lnTo>
                  <a:pt x="3753823" y="0"/>
                </a:lnTo>
                <a:close/>
              </a:path>
            </a:pathLst>
          </a:custGeom>
          <a:blipFill>
            <a:blip r:embed="rId5"/>
            <a:stretch>
              <a:fillRect/>
            </a:stretch>
          </a:blipFill>
        </p:spPr>
      </p:sp>
      <p:sp>
        <p:nvSpPr>
          <p:cNvPr id="6" name="Freeform 6"/>
          <p:cNvSpPr/>
          <p:nvPr/>
        </p:nvSpPr>
        <p:spPr>
          <a:xfrm rot="-132677">
            <a:off x="15998660" y="728391"/>
            <a:ext cx="2734633" cy="5614302"/>
          </a:xfrm>
          <a:custGeom>
            <a:avLst/>
            <a:gdLst/>
            <a:ahLst/>
            <a:cxnLst/>
            <a:rect l="l" t="t" r="r" b="b"/>
            <a:pathLst>
              <a:path w="2734633" h="5614302">
                <a:moveTo>
                  <a:pt x="0" y="0"/>
                </a:moveTo>
                <a:lnTo>
                  <a:pt x="2734633" y="0"/>
                </a:lnTo>
                <a:lnTo>
                  <a:pt x="2734633" y="5614302"/>
                </a:lnTo>
                <a:lnTo>
                  <a:pt x="0" y="5614302"/>
                </a:lnTo>
                <a:lnTo>
                  <a:pt x="0" y="0"/>
                </a:lnTo>
                <a:close/>
              </a:path>
            </a:pathLst>
          </a:custGeom>
          <a:blipFill>
            <a:blip r:embed="rId6"/>
            <a:stretch>
              <a:fillRect/>
            </a:stretch>
          </a:blipFill>
        </p:spPr>
      </p:sp>
      <p:sp>
        <p:nvSpPr>
          <p:cNvPr id="7" name="Freeform 7"/>
          <p:cNvSpPr/>
          <p:nvPr/>
        </p:nvSpPr>
        <p:spPr>
          <a:xfrm rot="-10045849">
            <a:off x="14939712" y="7614576"/>
            <a:ext cx="3579066" cy="3610659"/>
          </a:xfrm>
          <a:custGeom>
            <a:avLst/>
            <a:gdLst/>
            <a:ahLst/>
            <a:cxnLst/>
            <a:rect l="l" t="t" r="r" b="b"/>
            <a:pathLst>
              <a:path w="3579066" h="3610659">
                <a:moveTo>
                  <a:pt x="0" y="0"/>
                </a:moveTo>
                <a:lnTo>
                  <a:pt x="3579065" y="0"/>
                </a:lnTo>
                <a:lnTo>
                  <a:pt x="3579065" y="3610659"/>
                </a:lnTo>
                <a:lnTo>
                  <a:pt x="0" y="3610659"/>
                </a:lnTo>
                <a:lnTo>
                  <a:pt x="0" y="0"/>
                </a:lnTo>
                <a:close/>
              </a:path>
            </a:pathLst>
          </a:custGeom>
          <a:blipFill>
            <a:blip r:embed="rId3"/>
            <a:stretch>
              <a:fillRect/>
            </a:stretch>
          </a:blipFill>
        </p:spPr>
      </p:sp>
      <p:sp>
        <p:nvSpPr>
          <p:cNvPr id="8" name="Freeform 8"/>
          <p:cNvSpPr/>
          <p:nvPr/>
        </p:nvSpPr>
        <p:spPr>
          <a:xfrm rot="8100000" flipH="1">
            <a:off x="-1456972" y="2986773"/>
            <a:ext cx="2913944" cy="5982433"/>
          </a:xfrm>
          <a:custGeom>
            <a:avLst/>
            <a:gdLst/>
            <a:ahLst/>
            <a:cxnLst/>
            <a:rect l="l" t="t" r="r" b="b"/>
            <a:pathLst>
              <a:path w="2913944" h="5982433">
                <a:moveTo>
                  <a:pt x="2913944" y="0"/>
                </a:moveTo>
                <a:lnTo>
                  <a:pt x="0" y="0"/>
                </a:lnTo>
                <a:lnTo>
                  <a:pt x="0" y="5982433"/>
                </a:lnTo>
                <a:lnTo>
                  <a:pt x="2913944" y="5982433"/>
                </a:lnTo>
                <a:lnTo>
                  <a:pt x="2913944" y="0"/>
                </a:lnTo>
                <a:close/>
              </a:path>
            </a:pathLst>
          </a:custGeom>
          <a:blipFill>
            <a:blip r:embed="rId6"/>
            <a:stretch>
              <a:fillRect/>
            </a:stretch>
          </a:blipFill>
        </p:spPr>
      </p:sp>
      <p:sp>
        <p:nvSpPr>
          <p:cNvPr id="9" name="Freeform 9"/>
          <p:cNvSpPr/>
          <p:nvPr/>
        </p:nvSpPr>
        <p:spPr>
          <a:xfrm>
            <a:off x="16099001" y="7186363"/>
            <a:ext cx="630244" cy="630244"/>
          </a:xfrm>
          <a:custGeom>
            <a:avLst/>
            <a:gdLst/>
            <a:ahLst/>
            <a:cxnLst/>
            <a:rect l="l" t="t" r="r" b="b"/>
            <a:pathLst>
              <a:path w="630244" h="630244">
                <a:moveTo>
                  <a:pt x="0" y="0"/>
                </a:moveTo>
                <a:lnTo>
                  <a:pt x="630243" y="0"/>
                </a:lnTo>
                <a:lnTo>
                  <a:pt x="630243" y="630243"/>
                </a:lnTo>
                <a:lnTo>
                  <a:pt x="0" y="63024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Freeform 10"/>
          <p:cNvSpPr/>
          <p:nvPr/>
        </p:nvSpPr>
        <p:spPr>
          <a:xfrm>
            <a:off x="3246042" y="728391"/>
            <a:ext cx="675776" cy="675776"/>
          </a:xfrm>
          <a:custGeom>
            <a:avLst/>
            <a:gdLst/>
            <a:ahLst/>
            <a:cxnLst/>
            <a:rect l="l" t="t" r="r" b="b"/>
            <a:pathLst>
              <a:path w="675776" h="675776">
                <a:moveTo>
                  <a:pt x="0" y="0"/>
                </a:moveTo>
                <a:lnTo>
                  <a:pt x="675777" y="0"/>
                </a:lnTo>
                <a:lnTo>
                  <a:pt x="675777" y="675777"/>
                </a:lnTo>
                <a:lnTo>
                  <a:pt x="0" y="67577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1" name="Freeform 11"/>
          <p:cNvSpPr/>
          <p:nvPr/>
        </p:nvSpPr>
        <p:spPr>
          <a:xfrm rot="-1101683">
            <a:off x="13439707" y="-164071"/>
            <a:ext cx="3086985" cy="1784926"/>
          </a:xfrm>
          <a:custGeom>
            <a:avLst/>
            <a:gdLst/>
            <a:ahLst/>
            <a:cxnLst/>
            <a:rect l="l" t="t" r="r" b="b"/>
            <a:pathLst>
              <a:path w="3086985" h="1784926">
                <a:moveTo>
                  <a:pt x="0" y="0"/>
                </a:moveTo>
                <a:lnTo>
                  <a:pt x="3086985" y="0"/>
                </a:lnTo>
                <a:lnTo>
                  <a:pt x="3086985" y="1784925"/>
                </a:lnTo>
                <a:lnTo>
                  <a:pt x="0" y="1784925"/>
                </a:lnTo>
                <a:lnTo>
                  <a:pt x="0" y="0"/>
                </a:lnTo>
                <a:close/>
              </a:path>
            </a:pathLst>
          </a:custGeom>
          <a:blipFill>
            <a:blip r:embed="rId9"/>
            <a:stretch>
              <a:fillRect b="-51329"/>
            </a:stretch>
          </a:blipFill>
        </p:spPr>
      </p:sp>
      <p:sp>
        <p:nvSpPr>
          <p:cNvPr id="12" name="Freeform 12"/>
          <p:cNvSpPr/>
          <p:nvPr/>
        </p:nvSpPr>
        <p:spPr>
          <a:xfrm rot="1616795" flipV="1">
            <a:off x="1361354" y="8330159"/>
            <a:ext cx="3769377" cy="2179492"/>
          </a:xfrm>
          <a:custGeom>
            <a:avLst/>
            <a:gdLst/>
            <a:ahLst/>
            <a:cxnLst/>
            <a:rect l="l" t="t" r="r" b="b"/>
            <a:pathLst>
              <a:path w="3769377" h="2179492">
                <a:moveTo>
                  <a:pt x="0" y="2179492"/>
                </a:moveTo>
                <a:lnTo>
                  <a:pt x="3769377" y="2179492"/>
                </a:lnTo>
                <a:lnTo>
                  <a:pt x="3769377" y="0"/>
                </a:lnTo>
                <a:lnTo>
                  <a:pt x="0" y="0"/>
                </a:lnTo>
                <a:lnTo>
                  <a:pt x="0" y="2179492"/>
                </a:lnTo>
                <a:close/>
              </a:path>
            </a:pathLst>
          </a:custGeom>
          <a:blipFill>
            <a:blip r:embed="rId9"/>
            <a:stretch>
              <a:fillRect b="-51329"/>
            </a:stretch>
          </a:blipFill>
        </p:spPr>
      </p:sp>
      <p:sp>
        <p:nvSpPr>
          <p:cNvPr id="13" name="TextBox 13"/>
          <p:cNvSpPr txBox="1"/>
          <p:nvPr/>
        </p:nvSpPr>
        <p:spPr>
          <a:xfrm>
            <a:off x="4450189" y="1637019"/>
            <a:ext cx="9387622" cy="874395"/>
          </a:xfrm>
          <a:prstGeom prst="rect">
            <a:avLst/>
          </a:prstGeom>
        </p:spPr>
        <p:txBody>
          <a:bodyPr lIns="0" tIns="0" rIns="0" bIns="0" rtlCol="0" anchor="t">
            <a:spAutoFit/>
          </a:bodyPr>
          <a:lstStyle/>
          <a:p>
            <a:pPr algn="ctr">
              <a:lnSpc>
                <a:spcPts val="6839"/>
              </a:lnSpc>
            </a:pPr>
            <a:r>
              <a:rPr lang="en-US" sz="5999" b="1">
                <a:solidFill>
                  <a:srgbClr val="FFDA66"/>
                </a:solidFill>
                <a:latin typeface="Playpen Sans Bold"/>
                <a:ea typeface="Playpen Sans Bold"/>
                <a:cs typeface="Playpen Sans Bold"/>
                <a:sym typeface="Playpen Sans Bold"/>
              </a:rPr>
              <a:t>implementasi</a:t>
            </a:r>
          </a:p>
        </p:txBody>
      </p:sp>
      <p:sp>
        <p:nvSpPr>
          <p:cNvPr id="14" name="TextBox 14"/>
          <p:cNvSpPr txBox="1"/>
          <p:nvPr/>
        </p:nvSpPr>
        <p:spPr>
          <a:xfrm>
            <a:off x="1888408" y="3545067"/>
            <a:ext cx="13446135" cy="5207635"/>
          </a:xfrm>
          <a:prstGeom prst="rect">
            <a:avLst/>
          </a:prstGeom>
        </p:spPr>
        <p:txBody>
          <a:bodyPr lIns="0" tIns="0" rIns="0" bIns="0" rtlCol="0" anchor="t">
            <a:spAutoFit/>
          </a:bodyPr>
          <a:lstStyle/>
          <a:p>
            <a:pPr algn="l">
              <a:lnSpc>
                <a:spcPts val="2990"/>
              </a:lnSpc>
            </a:pPr>
            <a:r>
              <a:rPr lang="en-US" sz="2600" b="1">
                <a:solidFill>
                  <a:srgbClr val="FFFFFF"/>
                </a:solidFill>
                <a:latin typeface="Playpen Sans Bold"/>
                <a:ea typeface="Playpen Sans Bold"/>
                <a:cs typeface="Playpen Sans Bold"/>
                <a:sym typeface="Playpen Sans Bold"/>
              </a:rPr>
              <a:t>Di tahap ini, dilakukan pengkodean untuk merealisasikan desain aplikasi.</a:t>
            </a:r>
          </a:p>
          <a:p>
            <a:pPr algn="l">
              <a:lnSpc>
                <a:spcPts val="2990"/>
              </a:lnSpc>
            </a:pPr>
            <a:r>
              <a:rPr lang="en-US" sz="2600" b="1">
                <a:solidFill>
                  <a:srgbClr val="FFFFFF"/>
                </a:solidFill>
                <a:latin typeface="Playpen Sans Bold"/>
                <a:ea typeface="Playpen Sans Bold"/>
                <a:cs typeface="Playpen Sans Bold"/>
                <a:sym typeface="Playpen Sans Bold"/>
              </a:rPr>
              <a:t>Frontend Development:</a:t>
            </a:r>
          </a:p>
          <a:p>
            <a:pPr marL="1122681" lvl="2" indent="-374227" algn="l">
              <a:lnSpc>
                <a:spcPts val="2990"/>
              </a:lnSpc>
              <a:buFont typeface="Arial"/>
              <a:buChar char="⚬"/>
            </a:pPr>
            <a:r>
              <a:rPr lang="en-US" sz="2600" b="1">
                <a:solidFill>
                  <a:srgbClr val="FFFFFF"/>
                </a:solidFill>
                <a:latin typeface="Playpen Sans Bold"/>
                <a:ea typeface="Playpen Sans Bold"/>
                <a:cs typeface="Playpen Sans Bold"/>
                <a:sym typeface="Playpen Sans Bold"/>
              </a:rPr>
              <a:t>Membangun halaman login, dashboard karyawan, dan dashboard admin dengan HTML, CSS, dan JavaScript.</a:t>
            </a:r>
          </a:p>
          <a:p>
            <a:pPr marL="1122681" lvl="2" indent="-374227" algn="l">
              <a:lnSpc>
                <a:spcPts val="2990"/>
              </a:lnSpc>
              <a:buFont typeface="Arial"/>
              <a:buChar char="⚬"/>
            </a:pPr>
            <a:r>
              <a:rPr lang="en-US" sz="2600" b="1">
                <a:solidFill>
                  <a:srgbClr val="FFFFFF"/>
                </a:solidFill>
                <a:latin typeface="Playpen Sans Bold"/>
                <a:ea typeface="Playpen Sans Bold"/>
                <a:cs typeface="Playpen Sans Bold"/>
                <a:sym typeface="Playpen Sans Bold"/>
              </a:rPr>
              <a:t>Menggunakan AJAX atau fetch API untuk pengiriman data ke backend tanpa perlu refresh halaman.</a:t>
            </a:r>
          </a:p>
          <a:p>
            <a:pPr algn="l">
              <a:lnSpc>
                <a:spcPts val="2990"/>
              </a:lnSpc>
            </a:pPr>
            <a:r>
              <a:rPr lang="en-US" sz="2600" b="1">
                <a:solidFill>
                  <a:srgbClr val="FFFFFF"/>
                </a:solidFill>
                <a:latin typeface="Playpen Sans Bold"/>
                <a:ea typeface="Playpen Sans Bold"/>
                <a:cs typeface="Playpen Sans Bold"/>
                <a:sym typeface="Playpen Sans Bold"/>
              </a:rPr>
              <a:t>Backend Development:</a:t>
            </a:r>
          </a:p>
          <a:p>
            <a:pPr marL="1122681" lvl="2" indent="-374227" algn="l">
              <a:lnSpc>
                <a:spcPts val="2990"/>
              </a:lnSpc>
              <a:buFont typeface="Arial"/>
              <a:buChar char="⚬"/>
            </a:pPr>
            <a:r>
              <a:rPr lang="en-US" sz="2600" b="1">
                <a:solidFill>
                  <a:srgbClr val="FFFFFF"/>
                </a:solidFill>
                <a:latin typeface="Playpen Sans Bold"/>
                <a:ea typeface="Playpen Sans Bold"/>
                <a:cs typeface="Playpen Sans Bold"/>
                <a:sym typeface="Playpen Sans Bold"/>
              </a:rPr>
              <a:t>Membangun API endpoint untuk login, absensi masuk, laporan slip gaji dan laporan absensi.</a:t>
            </a:r>
          </a:p>
          <a:p>
            <a:pPr marL="1122681" lvl="2" indent="-374227" algn="l">
              <a:lnSpc>
                <a:spcPts val="2990"/>
              </a:lnSpc>
              <a:buFont typeface="Arial"/>
              <a:buChar char="⚬"/>
            </a:pPr>
            <a:r>
              <a:rPr lang="en-US" sz="2600" b="1">
                <a:solidFill>
                  <a:srgbClr val="FFFFFF"/>
                </a:solidFill>
                <a:latin typeface="Playpen Sans Bold"/>
                <a:ea typeface="Playpen Sans Bold"/>
                <a:cs typeface="Playpen Sans Bold"/>
                <a:sym typeface="Playpen Sans Bold"/>
              </a:rPr>
              <a:t>Menyimpan data absensi dan karyawan di database, serta memverifikasi login dengan hashing password.</a:t>
            </a:r>
          </a:p>
          <a:p>
            <a:pPr algn="l">
              <a:lnSpc>
                <a:spcPts val="2990"/>
              </a:lnSpc>
            </a:pPr>
            <a:r>
              <a:rPr lang="en-US" sz="2600" b="1">
                <a:solidFill>
                  <a:srgbClr val="FFFFFF"/>
                </a:solidFill>
                <a:latin typeface="Playpen Sans Bold"/>
                <a:ea typeface="Playpen Sans Bold"/>
                <a:cs typeface="Playpen Sans Bold"/>
                <a:sym typeface="Playpen Sans Bold"/>
              </a:rPr>
              <a:t>Database Setup:</a:t>
            </a:r>
          </a:p>
          <a:p>
            <a:pPr algn="l">
              <a:lnSpc>
                <a:spcPts val="2990"/>
              </a:lnSpc>
            </a:pPr>
            <a:r>
              <a:rPr lang="en-US" sz="2600" b="1">
                <a:solidFill>
                  <a:srgbClr val="FFFFFF"/>
                </a:solidFill>
                <a:latin typeface="Playpen Sans Bold"/>
                <a:ea typeface="Playpen Sans Bold"/>
                <a:cs typeface="Playpen Sans Bold"/>
                <a:sym typeface="Playpen Sans Bold"/>
              </a:rPr>
              <a:t>Membuat tabel karyawan untuk menyimpan data karyawan,tabel Slip gaji dan tabel absensi untuk mencatat waktu masuk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8710" t="-55975" r="-1305" b="-17361"/>
            </a:stretch>
          </a:blipFill>
        </p:spPr>
      </p:sp>
      <p:sp>
        <p:nvSpPr>
          <p:cNvPr id="3" name="Freeform 3"/>
          <p:cNvSpPr/>
          <p:nvPr/>
        </p:nvSpPr>
        <p:spPr>
          <a:xfrm>
            <a:off x="-430279" y="1028700"/>
            <a:ext cx="3255453" cy="3284189"/>
          </a:xfrm>
          <a:custGeom>
            <a:avLst/>
            <a:gdLst/>
            <a:ahLst/>
            <a:cxnLst/>
            <a:rect l="l" t="t" r="r" b="b"/>
            <a:pathLst>
              <a:path w="3255453" h="3284189">
                <a:moveTo>
                  <a:pt x="0" y="0"/>
                </a:moveTo>
                <a:lnTo>
                  <a:pt x="3255453" y="0"/>
                </a:lnTo>
                <a:lnTo>
                  <a:pt x="3255453" y="3284189"/>
                </a:lnTo>
                <a:lnTo>
                  <a:pt x="0" y="3284189"/>
                </a:lnTo>
                <a:lnTo>
                  <a:pt x="0" y="0"/>
                </a:lnTo>
                <a:close/>
              </a:path>
            </a:pathLst>
          </a:custGeom>
          <a:blipFill>
            <a:blip r:embed="rId3"/>
            <a:stretch>
              <a:fillRect/>
            </a:stretch>
          </a:blipFill>
        </p:spPr>
      </p:sp>
      <p:sp>
        <p:nvSpPr>
          <p:cNvPr id="4" name="Freeform 4"/>
          <p:cNvSpPr/>
          <p:nvPr/>
        </p:nvSpPr>
        <p:spPr>
          <a:xfrm rot="-485237">
            <a:off x="15714352" y="3968183"/>
            <a:ext cx="3089896" cy="5617992"/>
          </a:xfrm>
          <a:custGeom>
            <a:avLst/>
            <a:gdLst/>
            <a:ahLst/>
            <a:cxnLst/>
            <a:rect l="l" t="t" r="r" b="b"/>
            <a:pathLst>
              <a:path w="3089896" h="5617992">
                <a:moveTo>
                  <a:pt x="0" y="0"/>
                </a:moveTo>
                <a:lnTo>
                  <a:pt x="3089896" y="0"/>
                </a:lnTo>
                <a:lnTo>
                  <a:pt x="3089896" y="5617992"/>
                </a:lnTo>
                <a:lnTo>
                  <a:pt x="0" y="5617992"/>
                </a:lnTo>
                <a:lnTo>
                  <a:pt x="0" y="0"/>
                </a:lnTo>
                <a:close/>
              </a:path>
            </a:pathLst>
          </a:custGeom>
          <a:blipFill>
            <a:blip r:embed="rId4"/>
            <a:stretch>
              <a:fillRect/>
            </a:stretch>
          </a:blipFill>
        </p:spPr>
      </p:sp>
      <p:sp>
        <p:nvSpPr>
          <p:cNvPr id="5" name="Freeform 5"/>
          <p:cNvSpPr/>
          <p:nvPr/>
        </p:nvSpPr>
        <p:spPr>
          <a:xfrm rot="-4734906" flipH="1">
            <a:off x="-899929" y="-1304688"/>
            <a:ext cx="3753823" cy="3031212"/>
          </a:xfrm>
          <a:custGeom>
            <a:avLst/>
            <a:gdLst/>
            <a:ahLst/>
            <a:cxnLst/>
            <a:rect l="l" t="t" r="r" b="b"/>
            <a:pathLst>
              <a:path w="3753823" h="3031212">
                <a:moveTo>
                  <a:pt x="3753823" y="0"/>
                </a:moveTo>
                <a:lnTo>
                  <a:pt x="0" y="0"/>
                </a:lnTo>
                <a:lnTo>
                  <a:pt x="0" y="3031212"/>
                </a:lnTo>
                <a:lnTo>
                  <a:pt x="3753823" y="3031212"/>
                </a:lnTo>
                <a:lnTo>
                  <a:pt x="3753823" y="0"/>
                </a:lnTo>
                <a:close/>
              </a:path>
            </a:pathLst>
          </a:custGeom>
          <a:blipFill>
            <a:blip r:embed="rId5"/>
            <a:stretch>
              <a:fillRect/>
            </a:stretch>
          </a:blipFill>
        </p:spPr>
      </p:sp>
      <p:sp>
        <p:nvSpPr>
          <p:cNvPr id="6" name="Freeform 6"/>
          <p:cNvSpPr/>
          <p:nvPr/>
        </p:nvSpPr>
        <p:spPr>
          <a:xfrm rot="-132677">
            <a:off x="15998660" y="728391"/>
            <a:ext cx="2734633" cy="5614302"/>
          </a:xfrm>
          <a:custGeom>
            <a:avLst/>
            <a:gdLst/>
            <a:ahLst/>
            <a:cxnLst/>
            <a:rect l="l" t="t" r="r" b="b"/>
            <a:pathLst>
              <a:path w="2734633" h="5614302">
                <a:moveTo>
                  <a:pt x="0" y="0"/>
                </a:moveTo>
                <a:lnTo>
                  <a:pt x="2734633" y="0"/>
                </a:lnTo>
                <a:lnTo>
                  <a:pt x="2734633" y="5614302"/>
                </a:lnTo>
                <a:lnTo>
                  <a:pt x="0" y="5614302"/>
                </a:lnTo>
                <a:lnTo>
                  <a:pt x="0" y="0"/>
                </a:lnTo>
                <a:close/>
              </a:path>
            </a:pathLst>
          </a:custGeom>
          <a:blipFill>
            <a:blip r:embed="rId6"/>
            <a:stretch>
              <a:fillRect/>
            </a:stretch>
          </a:blipFill>
        </p:spPr>
      </p:sp>
      <p:sp>
        <p:nvSpPr>
          <p:cNvPr id="7" name="Freeform 7"/>
          <p:cNvSpPr/>
          <p:nvPr/>
        </p:nvSpPr>
        <p:spPr>
          <a:xfrm rot="-10045849">
            <a:off x="14939712" y="7614576"/>
            <a:ext cx="3579066" cy="3610659"/>
          </a:xfrm>
          <a:custGeom>
            <a:avLst/>
            <a:gdLst/>
            <a:ahLst/>
            <a:cxnLst/>
            <a:rect l="l" t="t" r="r" b="b"/>
            <a:pathLst>
              <a:path w="3579066" h="3610659">
                <a:moveTo>
                  <a:pt x="0" y="0"/>
                </a:moveTo>
                <a:lnTo>
                  <a:pt x="3579065" y="0"/>
                </a:lnTo>
                <a:lnTo>
                  <a:pt x="3579065" y="3610659"/>
                </a:lnTo>
                <a:lnTo>
                  <a:pt x="0" y="3610659"/>
                </a:lnTo>
                <a:lnTo>
                  <a:pt x="0" y="0"/>
                </a:lnTo>
                <a:close/>
              </a:path>
            </a:pathLst>
          </a:custGeom>
          <a:blipFill>
            <a:blip r:embed="rId3"/>
            <a:stretch>
              <a:fillRect/>
            </a:stretch>
          </a:blipFill>
        </p:spPr>
      </p:sp>
      <p:sp>
        <p:nvSpPr>
          <p:cNvPr id="8" name="Freeform 8"/>
          <p:cNvSpPr/>
          <p:nvPr/>
        </p:nvSpPr>
        <p:spPr>
          <a:xfrm rot="8100000" flipH="1">
            <a:off x="-1456972" y="2986773"/>
            <a:ext cx="2913944" cy="5982433"/>
          </a:xfrm>
          <a:custGeom>
            <a:avLst/>
            <a:gdLst/>
            <a:ahLst/>
            <a:cxnLst/>
            <a:rect l="l" t="t" r="r" b="b"/>
            <a:pathLst>
              <a:path w="2913944" h="5982433">
                <a:moveTo>
                  <a:pt x="2913944" y="0"/>
                </a:moveTo>
                <a:lnTo>
                  <a:pt x="0" y="0"/>
                </a:lnTo>
                <a:lnTo>
                  <a:pt x="0" y="5982433"/>
                </a:lnTo>
                <a:lnTo>
                  <a:pt x="2913944" y="5982433"/>
                </a:lnTo>
                <a:lnTo>
                  <a:pt x="2913944" y="0"/>
                </a:lnTo>
                <a:close/>
              </a:path>
            </a:pathLst>
          </a:custGeom>
          <a:blipFill>
            <a:blip r:embed="rId6"/>
            <a:stretch>
              <a:fillRect/>
            </a:stretch>
          </a:blipFill>
        </p:spPr>
      </p:sp>
      <p:sp>
        <p:nvSpPr>
          <p:cNvPr id="9" name="Freeform 9"/>
          <p:cNvSpPr/>
          <p:nvPr/>
        </p:nvSpPr>
        <p:spPr>
          <a:xfrm>
            <a:off x="16099001" y="7186363"/>
            <a:ext cx="630244" cy="630244"/>
          </a:xfrm>
          <a:custGeom>
            <a:avLst/>
            <a:gdLst/>
            <a:ahLst/>
            <a:cxnLst/>
            <a:rect l="l" t="t" r="r" b="b"/>
            <a:pathLst>
              <a:path w="630244" h="630244">
                <a:moveTo>
                  <a:pt x="0" y="0"/>
                </a:moveTo>
                <a:lnTo>
                  <a:pt x="630243" y="0"/>
                </a:lnTo>
                <a:lnTo>
                  <a:pt x="630243" y="630243"/>
                </a:lnTo>
                <a:lnTo>
                  <a:pt x="0" y="63024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Freeform 10"/>
          <p:cNvSpPr/>
          <p:nvPr/>
        </p:nvSpPr>
        <p:spPr>
          <a:xfrm>
            <a:off x="3246042" y="728391"/>
            <a:ext cx="675776" cy="675776"/>
          </a:xfrm>
          <a:custGeom>
            <a:avLst/>
            <a:gdLst/>
            <a:ahLst/>
            <a:cxnLst/>
            <a:rect l="l" t="t" r="r" b="b"/>
            <a:pathLst>
              <a:path w="675776" h="675776">
                <a:moveTo>
                  <a:pt x="0" y="0"/>
                </a:moveTo>
                <a:lnTo>
                  <a:pt x="675777" y="0"/>
                </a:lnTo>
                <a:lnTo>
                  <a:pt x="675777" y="675777"/>
                </a:lnTo>
                <a:lnTo>
                  <a:pt x="0" y="67577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1" name="Freeform 11"/>
          <p:cNvSpPr/>
          <p:nvPr/>
        </p:nvSpPr>
        <p:spPr>
          <a:xfrm rot="-1101683">
            <a:off x="13439707" y="-164071"/>
            <a:ext cx="3086985" cy="1784926"/>
          </a:xfrm>
          <a:custGeom>
            <a:avLst/>
            <a:gdLst/>
            <a:ahLst/>
            <a:cxnLst/>
            <a:rect l="l" t="t" r="r" b="b"/>
            <a:pathLst>
              <a:path w="3086985" h="1784926">
                <a:moveTo>
                  <a:pt x="0" y="0"/>
                </a:moveTo>
                <a:lnTo>
                  <a:pt x="3086985" y="0"/>
                </a:lnTo>
                <a:lnTo>
                  <a:pt x="3086985" y="1784925"/>
                </a:lnTo>
                <a:lnTo>
                  <a:pt x="0" y="1784925"/>
                </a:lnTo>
                <a:lnTo>
                  <a:pt x="0" y="0"/>
                </a:lnTo>
                <a:close/>
              </a:path>
            </a:pathLst>
          </a:custGeom>
          <a:blipFill>
            <a:blip r:embed="rId9"/>
            <a:stretch>
              <a:fillRect b="-51329"/>
            </a:stretch>
          </a:blipFill>
        </p:spPr>
      </p:sp>
      <p:sp>
        <p:nvSpPr>
          <p:cNvPr id="12" name="Freeform 12"/>
          <p:cNvSpPr/>
          <p:nvPr/>
        </p:nvSpPr>
        <p:spPr>
          <a:xfrm rot="1616795" flipV="1">
            <a:off x="1361354" y="8330159"/>
            <a:ext cx="3769377" cy="2179492"/>
          </a:xfrm>
          <a:custGeom>
            <a:avLst/>
            <a:gdLst/>
            <a:ahLst/>
            <a:cxnLst/>
            <a:rect l="l" t="t" r="r" b="b"/>
            <a:pathLst>
              <a:path w="3769377" h="2179492">
                <a:moveTo>
                  <a:pt x="0" y="2179492"/>
                </a:moveTo>
                <a:lnTo>
                  <a:pt x="3769377" y="2179492"/>
                </a:lnTo>
                <a:lnTo>
                  <a:pt x="3769377" y="0"/>
                </a:lnTo>
                <a:lnTo>
                  <a:pt x="0" y="0"/>
                </a:lnTo>
                <a:lnTo>
                  <a:pt x="0" y="2179492"/>
                </a:lnTo>
                <a:close/>
              </a:path>
            </a:pathLst>
          </a:custGeom>
          <a:blipFill>
            <a:blip r:embed="rId9"/>
            <a:stretch>
              <a:fillRect b="-51329"/>
            </a:stretch>
          </a:blipFill>
        </p:spPr>
      </p:sp>
      <p:sp>
        <p:nvSpPr>
          <p:cNvPr id="13" name="TextBox 13"/>
          <p:cNvSpPr txBox="1"/>
          <p:nvPr/>
        </p:nvSpPr>
        <p:spPr>
          <a:xfrm>
            <a:off x="4468967" y="1637019"/>
            <a:ext cx="9350067" cy="874395"/>
          </a:xfrm>
          <a:prstGeom prst="rect">
            <a:avLst/>
          </a:prstGeom>
        </p:spPr>
        <p:txBody>
          <a:bodyPr lIns="0" tIns="0" rIns="0" bIns="0" rtlCol="0" anchor="t">
            <a:spAutoFit/>
          </a:bodyPr>
          <a:lstStyle/>
          <a:p>
            <a:pPr algn="ctr">
              <a:lnSpc>
                <a:spcPts val="6839"/>
              </a:lnSpc>
            </a:pPr>
            <a:r>
              <a:rPr lang="en-US" sz="5999" b="1">
                <a:solidFill>
                  <a:srgbClr val="FFDA66"/>
                </a:solidFill>
                <a:latin typeface="Playpen Sans Bold"/>
                <a:ea typeface="Playpen Sans Bold"/>
                <a:cs typeface="Playpen Sans Bold"/>
                <a:sym typeface="Playpen Sans Bold"/>
              </a:rPr>
              <a:t>Pengujian</a:t>
            </a:r>
          </a:p>
        </p:txBody>
      </p:sp>
      <p:sp>
        <p:nvSpPr>
          <p:cNvPr id="14" name="TextBox 14"/>
          <p:cNvSpPr txBox="1"/>
          <p:nvPr/>
        </p:nvSpPr>
        <p:spPr>
          <a:xfrm>
            <a:off x="3331730" y="4679097"/>
            <a:ext cx="6149754" cy="5950585"/>
          </a:xfrm>
          <a:prstGeom prst="rect">
            <a:avLst/>
          </a:prstGeom>
        </p:spPr>
        <p:txBody>
          <a:bodyPr lIns="0" tIns="0" rIns="0" bIns="0" rtlCol="0" anchor="t">
            <a:spAutoFit/>
          </a:bodyPr>
          <a:lstStyle/>
          <a:p>
            <a:pPr marL="1122681" lvl="2" indent="-374227" algn="l">
              <a:lnSpc>
                <a:spcPts val="2990"/>
              </a:lnSpc>
              <a:buFont typeface="Arial"/>
              <a:buChar char="⚬"/>
            </a:pPr>
            <a:r>
              <a:rPr lang="en-US" sz="2600" b="1">
                <a:solidFill>
                  <a:srgbClr val="FFFFFF"/>
                </a:solidFill>
                <a:latin typeface="Playpen Sans Bold"/>
                <a:ea typeface="Playpen Sans Bold"/>
                <a:cs typeface="Playpen Sans Bold"/>
                <a:sym typeface="Playpen Sans Bold"/>
              </a:rPr>
              <a:t>Unit Testing</a:t>
            </a:r>
          </a:p>
          <a:p>
            <a:pPr algn="l">
              <a:lnSpc>
                <a:spcPts val="2990"/>
              </a:lnSpc>
            </a:pPr>
            <a:r>
              <a:rPr lang="en-US" sz="2600" b="1">
                <a:solidFill>
                  <a:srgbClr val="FFFFFF"/>
                </a:solidFill>
                <a:latin typeface="Playpen Sans Bold"/>
                <a:ea typeface="Playpen Sans Bold"/>
                <a:cs typeface="Playpen Sans Bold"/>
                <a:sym typeface="Playpen Sans Bold"/>
              </a:rPr>
              <a:t>Menguji setiap fungsi pada backend, seperti login, pencatatan absensi, dan laporan.</a:t>
            </a:r>
          </a:p>
          <a:p>
            <a:pPr marL="1122681" lvl="2" indent="-374227" algn="l">
              <a:lnSpc>
                <a:spcPts val="2990"/>
              </a:lnSpc>
              <a:buFont typeface="Arial"/>
              <a:buChar char="⚬"/>
            </a:pPr>
            <a:r>
              <a:rPr lang="en-US" sz="2600" b="1">
                <a:solidFill>
                  <a:srgbClr val="FFFFFF"/>
                </a:solidFill>
                <a:latin typeface="Playpen Sans Bold"/>
                <a:ea typeface="Playpen Sans Bold"/>
                <a:cs typeface="Playpen Sans Bold"/>
                <a:sym typeface="Playpen Sans Bold"/>
              </a:rPr>
              <a:t>Integration Testing</a:t>
            </a:r>
          </a:p>
          <a:p>
            <a:pPr algn="l">
              <a:lnSpc>
                <a:spcPts val="2990"/>
              </a:lnSpc>
            </a:pPr>
            <a:r>
              <a:rPr lang="en-US" sz="2600" b="1">
                <a:solidFill>
                  <a:srgbClr val="FFFFFF"/>
                </a:solidFill>
                <a:latin typeface="Playpen Sans Bold"/>
                <a:ea typeface="Playpen Sans Bold"/>
                <a:cs typeface="Playpen Sans Bold"/>
                <a:sym typeface="Playpen Sans Bold"/>
              </a:rPr>
              <a:t>Memastikan integrasi antara frontend dan backend berjalan dengan baik.</a:t>
            </a:r>
          </a:p>
          <a:p>
            <a:pPr marL="1122681" lvl="2" indent="-374227" algn="l">
              <a:lnSpc>
                <a:spcPts val="2990"/>
              </a:lnSpc>
              <a:buFont typeface="Arial"/>
              <a:buChar char="⚬"/>
            </a:pPr>
            <a:r>
              <a:rPr lang="en-US" sz="2600" b="1">
                <a:solidFill>
                  <a:srgbClr val="FFFFFF"/>
                </a:solidFill>
                <a:latin typeface="Playpen Sans Bold"/>
                <a:ea typeface="Playpen Sans Bold"/>
                <a:cs typeface="Playpen Sans Bold"/>
                <a:sym typeface="Playpen Sans Bold"/>
              </a:rPr>
              <a:t>User Acceptance Testing (UAT)</a:t>
            </a:r>
          </a:p>
          <a:p>
            <a:pPr algn="l">
              <a:lnSpc>
                <a:spcPts val="2990"/>
              </a:lnSpc>
            </a:pPr>
            <a:r>
              <a:rPr lang="en-US" sz="2600" b="1">
                <a:solidFill>
                  <a:srgbClr val="FFFFFF"/>
                </a:solidFill>
                <a:latin typeface="Playpen Sans Bold"/>
                <a:ea typeface="Playpen Sans Bold"/>
                <a:cs typeface="Playpen Sans Bold"/>
                <a:sym typeface="Playpen Sans Bold"/>
              </a:rPr>
              <a:t>Menguji aplikasi pada pengguna akhir (karyawan dan admin) untuk memastikan aplikasi mudah digunakan dan sesuai dengan kebutuhan.</a:t>
            </a:r>
          </a:p>
          <a:p>
            <a:pPr algn="l">
              <a:lnSpc>
                <a:spcPts val="2990"/>
              </a:lnSpc>
            </a:pPr>
            <a:endParaRPr lang="en-US" sz="2600" b="1">
              <a:solidFill>
                <a:srgbClr val="FFFFFF"/>
              </a:solidFill>
              <a:latin typeface="Playpen Sans Bold"/>
              <a:ea typeface="Playpen Sans Bold"/>
              <a:cs typeface="Playpen Sans Bold"/>
              <a:sym typeface="Playpen Sans Bold"/>
            </a:endParaRPr>
          </a:p>
        </p:txBody>
      </p:sp>
      <p:sp>
        <p:nvSpPr>
          <p:cNvPr id="15" name="TextBox 15"/>
          <p:cNvSpPr txBox="1"/>
          <p:nvPr/>
        </p:nvSpPr>
        <p:spPr>
          <a:xfrm>
            <a:off x="9650556" y="4679097"/>
            <a:ext cx="5305713" cy="4836160"/>
          </a:xfrm>
          <a:prstGeom prst="rect">
            <a:avLst/>
          </a:prstGeom>
        </p:spPr>
        <p:txBody>
          <a:bodyPr lIns="0" tIns="0" rIns="0" bIns="0" rtlCol="0" anchor="t">
            <a:spAutoFit/>
          </a:bodyPr>
          <a:lstStyle/>
          <a:p>
            <a:pPr marL="1122681" lvl="2" indent="-374227" algn="l">
              <a:lnSpc>
                <a:spcPts val="2990"/>
              </a:lnSpc>
              <a:buFont typeface="Arial"/>
              <a:buChar char="⚬"/>
            </a:pPr>
            <a:r>
              <a:rPr lang="en-US" sz="2600" b="1">
                <a:solidFill>
                  <a:srgbClr val="FFFFFF"/>
                </a:solidFill>
                <a:latin typeface="Playpen Sans Bold"/>
                <a:ea typeface="Playpen Sans Bold"/>
                <a:cs typeface="Playpen Sans Bold"/>
                <a:sym typeface="Playpen Sans Bold"/>
              </a:rPr>
              <a:t>Login dengan karyawan atau admin yang benar dan salah.</a:t>
            </a:r>
          </a:p>
          <a:p>
            <a:pPr marL="1122681" lvl="2" indent="-374227" algn="l">
              <a:lnSpc>
                <a:spcPts val="2990"/>
              </a:lnSpc>
              <a:buFont typeface="Arial"/>
              <a:buChar char="⚬"/>
            </a:pPr>
            <a:r>
              <a:rPr lang="en-US" sz="2600" b="1">
                <a:solidFill>
                  <a:srgbClr val="FFFFFF"/>
                </a:solidFill>
                <a:latin typeface="Playpen Sans Bold"/>
                <a:ea typeface="Playpen Sans Bold"/>
                <a:cs typeface="Playpen Sans Bold"/>
                <a:sym typeface="Playpen Sans Bold"/>
              </a:rPr>
              <a:t>Mencatat absensi masuk dan pulang, dan memeriksa apakah data tersimpan dengan benar.</a:t>
            </a:r>
          </a:p>
          <a:p>
            <a:pPr marL="1122681" lvl="2" indent="-374227" algn="l">
              <a:lnSpc>
                <a:spcPts val="2990"/>
              </a:lnSpc>
              <a:buFont typeface="Arial"/>
              <a:buChar char="⚬"/>
            </a:pPr>
            <a:r>
              <a:rPr lang="en-US" sz="2600" b="1">
                <a:solidFill>
                  <a:srgbClr val="FFFFFF"/>
                </a:solidFill>
                <a:latin typeface="Playpen Sans Bold"/>
                <a:ea typeface="Playpen Sans Bold"/>
                <a:cs typeface="Playpen Sans Bold"/>
                <a:sym typeface="Playpen Sans Bold"/>
              </a:rPr>
              <a:t>Menampilkan laporan absensi dan memastikan bahwa data akurat sesuai tanggal.</a:t>
            </a:r>
          </a:p>
        </p:txBody>
      </p:sp>
      <p:grpSp>
        <p:nvGrpSpPr>
          <p:cNvPr id="16" name="Group 16"/>
          <p:cNvGrpSpPr/>
          <p:nvPr/>
        </p:nvGrpSpPr>
        <p:grpSpPr>
          <a:xfrm>
            <a:off x="3162658" y="3485883"/>
            <a:ext cx="5643857" cy="741075"/>
            <a:chOff x="0" y="0"/>
            <a:chExt cx="1486448" cy="195180"/>
          </a:xfrm>
        </p:grpSpPr>
        <p:sp>
          <p:nvSpPr>
            <p:cNvPr id="17" name="Freeform 17"/>
            <p:cNvSpPr/>
            <p:nvPr/>
          </p:nvSpPr>
          <p:spPr>
            <a:xfrm>
              <a:off x="0" y="0"/>
              <a:ext cx="1486448" cy="195180"/>
            </a:xfrm>
            <a:custGeom>
              <a:avLst/>
              <a:gdLst/>
              <a:ahLst/>
              <a:cxnLst/>
              <a:rect l="l" t="t" r="r" b="b"/>
              <a:pathLst>
                <a:path w="1486448" h="195180">
                  <a:moveTo>
                    <a:pt x="69959" y="0"/>
                  </a:moveTo>
                  <a:lnTo>
                    <a:pt x="1416489" y="0"/>
                  </a:lnTo>
                  <a:cubicBezTo>
                    <a:pt x="1435043" y="0"/>
                    <a:pt x="1452838" y="7371"/>
                    <a:pt x="1465958" y="20490"/>
                  </a:cubicBezTo>
                  <a:cubicBezTo>
                    <a:pt x="1479077" y="33610"/>
                    <a:pt x="1486448" y="51405"/>
                    <a:pt x="1486448" y="69959"/>
                  </a:cubicBezTo>
                  <a:lnTo>
                    <a:pt x="1486448" y="125221"/>
                  </a:lnTo>
                  <a:cubicBezTo>
                    <a:pt x="1486448" y="163859"/>
                    <a:pt x="1455126" y="195180"/>
                    <a:pt x="1416489" y="195180"/>
                  </a:cubicBezTo>
                  <a:lnTo>
                    <a:pt x="69959" y="195180"/>
                  </a:lnTo>
                  <a:cubicBezTo>
                    <a:pt x="31322" y="195180"/>
                    <a:pt x="0" y="163859"/>
                    <a:pt x="0" y="125221"/>
                  </a:cubicBezTo>
                  <a:lnTo>
                    <a:pt x="0" y="69959"/>
                  </a:lnTo>
                  <a:cubicBezTo>
                    <a:pt x="0" y="31322"/>
                    <a:pt x="31322" y="0"/>
                    <a:pt x="69959" y="0"/>
                  </a:cubicBezTo>
                  <a:close/>
                </a:path>
              </a:pathLst>
            </a:custGeom>
            <a:solidFill>
              <a:srgbClr val="FFDA66"/>
            </a:solidFill>
          </p:spPr>
        </p:sp>
        <p:sp>
          <p:nvSpPr>
            <p:cNvPr id="18" name="TextBox 18"/>
            <p:cNvSpPr txBox="1"/>
            <p:nvPr/>
          </p:nvSpPr>
          <p:spPr>
            <a:xfrm>
              <a:off x="0" y="-28575"/>
              <a:ext cx="1486448" cy="223755"/>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3394454" y="3609723"/>
            <a:ext cx="5180267" cy="512445"/>
          </a:xfrm>
          <a:prstGeom prst="rect">
            <a:avLst/>
          </a:prstGeom>
        </p:spPr>
        <p:txBody>
          <a:bodyPr lIns="0" tIns="0" rIns="0" bIns="0" rtlCol="0" anchor="t">
            <a:spAutoFit/>
          </a:bodyPr>
          <a:lstStyle/>
          <a:p>
            <a:pPr algn="ctr">
              <a:lnSpc>
                <a:spcPts val="3990"/>
              </a:lnSpc>
            </a:pPr>
            <a:r>
              <a:rPr lang="en-US" sz="3500" b="1">
                <a:solidFill>
                  <a:srgbClr val="00436E"/>
                </a:solidFill>
                <a:latin typeface="Playpen Sans Bold"/>
                <a:ea typeface="Playpen Sans Bold"/>
                <a:cs typeface="Playpen Sans Bold"/>
                <a:sym typeface="Playpen Sans Bold"/>
              </a:rPr>
              <a:t>JENIS PENGUJIAN</a:t>
            </a:r>
          </a:p>
        </p:txBody>
      </p:sp>
      <p:sp>
        <p:nvSpPr>
          <p:cNvPr id="20" name="TextBox 20"/>
          <p:cNvSpPr txBox="1"/>
          <p:nvPr/>
        </p:nvSpPr>
        <p:spPr>
          <a:xfrm>
            <a:off x="12049008" y="3504933"/>
            <a:ext cx="508811" cy="598470"/>
          </a:xfrm>
          <a:prstGeom prst="rect">
            <a:avLst/>
          </a:prstGeom>
        </p:spPr>
        <p:txBody>
          <a:bodyPr lIns="0" tIns="0" rIns="0" bIns="0" rtlCol="0" anchor="t">
            <a:spAutoFit/>
          </a:bodyPr>
          <a:lstStyle/>
          <a:p>
            <a:pPr algn="ctr">
              <a:lnSpc>
                <a:spcPts val="4628"/>
              </a:lnSpc>
            </a:pPr>
            <a:r>
              <a:rPr lang="en-US" sz="4060" b="1">
                <a:solidFill>
                  <a:srgbClr val="00436E"/>
                </a:solidFill>
                <a:latin typeface="Playpen Sans Bold"/>
                <a:ea typeface="Playpen Sans Bold"/>
                <a:cs typeface="Playpen Sans Bold"/>
                <a:sym typeface="Playpen Sans Bold"/>
              </a:rPr>
              <a:t>2</a:t>
            </a:r>
          </a:p>
        </p:txBody>
      </p:sp>
      <p:grpSp>
        <p:nvGrpSpPr>
          <p:cNvPr id="21" name="Group 21"/>
          <p:cNvGrpSpPr/>
          <p:nvPr/>
        </p:nvGrpSpPr>
        <p:grpSpPr>
          <a:xfrm>
            <a:off x="9481485" y="3485883"/>
            <a:ext cx="5643857" cy="741075"/>
            <a:chOff x="0" y="0"/>
            <a:chExt cx="1486448" cy="195180"/>
          </a:xfrm>
        </p:grpSpPr>
        <p:sp>
          <p:nvSpPr>
            <p:cNvPr id="22" name="Freeform 22"/>
            <p:cNvSpPr/>
            <p:nvPr/>
          </p:nvSpPr>
          <p:spPr>
            <a:xfrm>
              <a:off x="0" y="0"/>
              <a:ext cx="1486448" cy="195180"/>
            </a:xfrm>
            <a:custGeom>
              <a:avLst/>
              <a:gdLst/>
              <a:ahLst/>
              <a:cxnLst/>
              <a:rect l="l" t="t" r="r" b="b"/>
              <a:pathLst>
                <a:path w="1486448" h="195180">
                  <a:moveTo>
                    <a:pt x="69959" y="0"/>
                  </a:moveTo>
                  <a:lnTo>
                    <a:pt x="1416489" y="0"/>
                  </a:lnTo>
                  <a:cubicBezTo>
                    <a:pt x="1435043" y="0"/>
                    <a:pt x="1452838" y="7371"/>
                    <a:pt x="1465958" y="20490"/>
                  </a:cubicBezTo>
                  <a:cubicBezTo>
                    <a:pt x="1479077" y="33610"/>
                    <a:pt x="1486448" y="51405"/>
                    <a:pt x="1486448" y="69959"/>
                  </a:cubicBezTo>
                  <a:lnTo>
                    <a:pt x="1486448" y="125221"/>
                  </a:lnTo>
                  <a:cubicBezTo>
                    <a:pt x="1486448" y="163859"/>
                    <a:pt x="1455126" y="195180"/>
                    <a:pt x="1416489" y="195180"/>
                  </a:cubicBezTo>
                  <a:lnTo>
                    <a:pt x="69959" y="195180"/>
                  </a:lnTo>
                  <a:cubicBezTo>
                    <a:pt x="31322" y="195180"/>
                    <a:pt x="0" y="163859"/>
                    <a:pt x="0" y="125221"/>
                  </a:cubicBezTo>
                  <a:lnTo>
                    <a:pt x="0" y="69959"/>
                  </a:lnTo>
                  <a:cubicBezTo>
                    <a:pt x="0" y="31322"/>
                    <a:pt x="31322" y="0"/>
                    <a:pt x="69959" y="0"/>
                  </a:cubicBezTo>
                  <a:close/>
                </a:path>
              </a:pathLst>
            </a:custGeom>
            <a:solidFill>
              <a:srgbClr val="FFDA66"/>
            </a:solidFill>
          </p:spPr>
        </p:sp>
        <p:sp>
          <p:nvSpPr>
            <p:cNvPr id="23" name="TextBox 23"/>
            <p:cNvSpPr txBox="1"/>
            <p:nvPr/>
          </p:nvSpPr>
          <p:spPr>
            <a:xfrm>
              <a:off x="0" y="-28575"/>
              <a:ext cx="1486448" cy="223755"/>
            </a:xfrm>
            <a:prstGeom prst="rect">
              <a:avLst/>
            </a:prstGeom>
          </p:spPr>
          <p:txBody>
            <a:bodyPr lIns="50800" tIns="50800" rIns="50800" bIns="50800" rtlCol="0" anchor="ctr"/>
            <a:lstStyle/>
            <a:p>
              <a:pPr algn="ctr">
                <a:lnSpc>
                  <a:spcPts val="2659"/>
                </a:lnSpc>
              </a:pPr>
              <a:endParaRPr/>
            </a:p>
          </p:txBody>
        </p:sp>
      </p:grpSp>
      <p:sp>
        <p:nvSpPr>
          <p:cNvPr id="24" name="TextBox 24"/>
          <p:cNvSpPr txBox="1"/>
          <p:nvPr/>
        </p:nvSpPr>
        <p:spPr>
          <a:xfrm>
            <a:off x="9547988" y="3609723"/>
            <a:ext cx="5510850" cy="512445"/>
          </a:xfrm>
          <a:prstGeom prst="rect">
            <a:avLst/>
          </a:prstGeom>
        </p:spPr>
        <p:txBody>
          <a:bodyPr lIns="0" tIns="0" rIns="0" bIns="0" rtlCol="0" anchor="t">
            <a:spAutoFit/>
          </a:bodyPr>
          <a:lstStyle/>
          <a:p>
            <a:pPr algn="ctr">
              <a:lnSpc>
                <a:spcPts val="3990"/>
              </a:lnSpc>
            </a:pPr>
            <a:r>
              <a:rPr lang="en-US" sz="3500" b="1">
                <a:solidFill>
                  <a:srgbClr val="00436E"/>
                </a:solidFill>
                <a:latin typeface="Playpen Sans Bold"/>
                <a:ea typeface="Playpen Sans Bold"/>
                <a:cs typeface="Playpen Sans Bold"/>
                <a:sym typeface="Playpen Sans Bold"/>
              </a:rPr>
              <a:t>CONTOH PENGUJIAN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8710" t="-55975" r="-1305" b="-17361"/>
            </a:stretch>
          </a:blipFill>
        </p:spPr>
      </p:sp>
      <p:sp>
        <p:nvSpPr>
          <p:cNvPr id="3" name="Freeform 3"/>
          <p:cNvSpPr/>
          <p:nvPr/>
        </p:nvSpPr>
        <p:spPr>
          <a:xfrm rot="232631">
            <a:off x="15975808" y="1967543"/>
            <a:ext cx="2551630" cy="5238590"/>
          </a:xfrm>
          <a:custGeom>
            <a:avLst/>
            <a:gdLst/>
            <a:ahLst/>
            <a:cxnLst/>
            <a:rect l="l" t="t" r="r" b="b"/>
            <a:pathLst>
              <a:path w="2551630" h="5238590">
                <a:moveTo>
                  <a:pt x="0" y="0"/>
                </a:moveTo>
                <a:lnTo>
                  <a:pt x="2551630" y="0"/>
                </a:lnTo>
                <a:lnTo>
                  <a:pt x="2551630" y="5238591"/>
                </a:lnTo>
                <a:lnTo>
                  <a:pt x="0" y="5238591"/>
                </a:lnTo>
                <a:lnTo>
                  <a:pt x="0" y="0"/>
                </a:lnTo>
                <a:close/>
              </a:path>
            </a:pathLst>
          </a:custGeom>
          <a:blipFill>
            <a:blip r:embed="rId3"/>
            <a:stretch>
              <a:fillRect/>
            </a:stretch>
          </a:blipFill>
        </p:spPr>
      </p:sp>
      <p:sp>
        <p:nvSpPr>
          <p:cNvPr id="4" name="Freeform 4"/>
          <p:cNvSpPr/>
          <p:nvPr/>
        </p:nvSpPr>
        <p:spPr>
          <a:xfrm rot="10183351" flipH="1">
            <a:off x="-594103" y="5812331"/>
            <a:ext cx="2677595" cy="2701230"/>
          </a:xfrm>
          <a:custGeom>
            <a:avLst/>
            <a:gdLst/>
            <a:ahLst/>
            <a:cxnLst/>
            <a:rect l="l" t="t" r="r" b="b"/>
            <a:pathLst>
              <a:path w="2677595" h="2701230">
                <a:moveTo>
                  <a:pt x="2677594" y="0"/>
                </a:moveTo>
                <a:lnTo>
                  <a:pt x="0" y="0"/>
                </a:lnTo>
                <a:lnTo>
                  <a:pt x="0" y="2701231"/>
                </a:lnTo>
                <a:lnTo>
                  <a:pt x="2677594" y="2701231"/>
                </a:lnTo>
                <a:lnTo>
                  <a:pt x="2677594" y="0"/>
                </a:lnTo>
                <a:close/>
              </a:path>
            </a:pathLst>
          </a:custGeom>
          <a:blipFill>
            <a:blip r:embed="rId4"/>
            <a:stretch>
              <a:fillRect/>
            </a:stretch>
          </a:blipFill>
        </p:spPr>
      </p:sp>
      <p:sp>
        <p:nvSpPr>
          <p:cNvPr id="5" name="Freeform 5"/>
          <p:cNvSpPr/>
          <p:nvPr/>
        </p:nvSpPr>
        <p:spPr>
          <a:xfrm rot="-275437">
            <a:off x="16407370" y="5268865"/>
            <a:ext cx="2455882" cy="4465240"/>
          </a:xfrm>
          <a:custGeom>
            <a:avLst/>
            <a:gdLst/>
            <a:ahLst/>
            <a:cxnLst/>
            <a:rect l="l" t="t" r="r" b="b"/>
            <a:pathLst>
              <a:path w="2455882" h="4465240">
                <a:moveTo>
                  <a:pt x="0" y="0"/>
                </a:moveTo>
                <a:lnTo>
                  <a:pt x="2455882" y="0"/>
                </a:lnTo>
                <a:lnTo>
                  <a:pt x="2455882" y="4465239"/>
                </a:lnTo>
                <a:lnTo>
                  <a:pt x="0" y="4465239"/>
                </a:lnTo>
                <a:lnTo>
                  <a:pt x="0" y="0"/>
                </a:lnTo>
                <a:close/>
              </a:path>
            </a:pathLst>
          </a:custGeom>
          <a:blipFill>
            <a:blip r:embed="rId5"/>
            <a:stretch>
              <a:fillRect/>
            </a:stretch>
          </a:blipFill>
        </p:spPr>
      </p:sp>
      <p:sp>
        <p:nvSpPr>
          <p:cNvPr id="6" name="Freeform 6"/>
          <p:cNvSpPr/>
          <p:nvPr/>
        </p:nvSpPr>
        <p:spPr>
          <a:xfrm rot="-5823174">
            <a:off x="-672347" y="8461400"/>
            <a:ext cx="2834082" cy="2288521"/>
          </a:xfrm>
          <a:custGeom>
            <a:avLst/>
            <a:gdLst/>
            <a:ahLst/>
            <a:cxnLst/>
            <a:rect l="l" t="t" r="r" b="b"/>
            <a:pathLst>
              <a:path w="2834082" h="2288521">
                <a:moveTo>
                  <a:pt x="0" y="0"/>
                </a:moveTo>
                <a:lnTo>
                  <a:pt x="2834082" y="0"/>
                </a:lnTo>
                <a:lnTo>
                  <a:pt x="2834082" y="2288521"/>
                </a:lnTo>
                <a:lnTo>
                  <a:pt x="0" y="2288521"/>
                </a:lnTo>
                <a:lnTo>
                  <a:pt x="0" y="0"/>
                </a:lnTo>
                <a:close/>
              </a:path>
            </a:pathLst>
          </a:custGeom>
          <a:blipFill>
            <a:blip r:embed="rId6"/>
            <a:stretch>
              <a:fillRect/>
            </a:stretch>
          </a:blipFill>
        </p:spPr>
      </p:sp>
      <p:sp>
        <p:nvSpPr>
          <p:cNvPr id="7" name="Freeform 7"/>
          <p:cNvSpPr/>
          <p:nvPr/>
        </p:nvSpPr>
        <p:spPr>
          <a:xfrm rot="-10045849">
            <a:off x="15517119" y="8341422"/>
            <a:ext cx="2921612" cy="2947402"/>
          </a:xfrm>
          <a:custGeom>
            <a:avLst/>
            <a:gdLst/>
            <a:ahLst/>
            <a:cxnLst/>
            <a:rect l="l" t="t" r="r" b="b"/>
            <a:pathLst>
              <a:path w="2921612" h="2947402">
                <a:moveTo>
                  <a:pt x="0" y="0"/>
                </a:moveTo>
                <a:lnTo>
                  <a:pt x="2921612" y="0"/>
                </a:lnTo>
                <a:lnTo>
                  <a:pt x="2921612" y="2947402"/>
                </a:lnTo>
                <a:lnTo>
                  <a:pt x="0" y="2947402"/>
                </a:lnTo>
                <a:lnTo>
                  <a:pt x="0" y="0"/>
                </a:lnTo>
                <a:close/>
              </a:path>
            </a:pathLst>
          </a:custGeom>
          <a:blipFill>
            <a:blip r:embed="rId4"/>
            <a:stretch>
              <a:fillRect/>
            </a:stretch>
          </a:blipFill>
        </p:spPr>
      </p:sp>
      <p:sp>
        <p:nvSpPr>
          <p:cNvPr id="8" name="Freeform 8"/>
          <p:cNvSpPr/>
          <p:nvPr/>
        </p:nvSpPr>
        <p:spPr>
          <a:xfrm>
            <a:off x="16936502" y="7501484"/>
            <a:ext cx="630244" cy="630244"/>
          </a:xfrm>
          <a:custGeom>
            <a:avLst/>
            <a:gdLst/>
            <a:ahLst/>
            <a:cxnLst/>
            <a:rect l="l" t="t" r="r" b="b"/>
            <a:pathLst>
              <a:path w="630244" h="630244">
                <a:moveTo>
                  <a:pt x="0" y="0"/>
                </a:moveTo>
                <a:lnTo>
                  <a:pt x="630243" y="0"/>
                </a:lnTo>
                <a:lnTo>
                  <a:pt x="630243" y="630244"/>
                </a:lnTo>
                <a:lnTo>
                  <a:pt x="0" y="63024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Freeform 9"/>
          <p:cNvSpPr/>
          <p:nvPr/>
        </p:nvSpPr>
        <p:spPr>
          <a:xfrm>
            <a:off x="1028700" y="9267772"/>
            <a:ext cx="675776" cy="675776"/>
          </a:xfrm>
          <a:custGeom>
            <a:avLst/>
            <a:gdLst/>
            <a:ahLst/>
            <a:cxnLst/>
            <a:rect l="l" t="t" r="r" b="b"/>
            <a:pathLst>
              <a:path w="675776" h="675776">
                <a:moveTo>
                  <a:pt x="0" y="0"/>
                </a:moveTo>
                <a:lnTo>
                  <a:pt x="675776" y="0"/>
                </a:lnTo>
                <a:lnTo>
                  <a:pt x="675776" y="675777"/>
                </a:lnTo>
                <a:lnTo>
                  <a:pt x="0" y="67577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Freeform 10"/>
          <p:cNvSpPr/>
          <p:nvPr/>
        </p:nvSpPr>
        <p:spPr>
          <a:xfrm rot="-1101683">
            <a:off x="14345773" y="-170538"/>
            <a:ext cx="3086985" cy="1784926"/>
          </a:xfrm>
          <a:custGeom>
            <a:avLst/>
            <a:gdLst/>
            <a:ahLst/>
            <a:cxnLst/>
            <a:rect l="l" t="t" r="r" b="b"/>
            <a:pathLst>
              <a:path w="3086985" h="1784926">
                <a:moveTo>
                  <a:pt x="0" y="0"/>
                </a:moveTo>
                <a:lnTo>
                  <a:pt x="3086985" y="0"/>
                </a:lnTo>
                <a:lnTo>
                  <a:pt x="3086985" y="1784926"/>
                </a:lnTo>
                <a:lnTo>
                  <a:pt x="0" y="1784926"/>
                </a:lnTo>
                <a:lnTo>
                  <a:pt x="0" y="0"/>
                </a:lnTo>
                <a:close/>
              </a:path>
            </a:pathLst>
          </a:custGeom>
          <a:blipFill>
            <a:blip r:embed="rId9"/>
            <a:stretch>
              <a:fillRect b="-51329"/>
            </a:stretch>
          </a:blipFill>
        </p:spPr>
      </p:sp>
      <p:sp>
        <p:nvSpPr>
          <p:cNvPr id="11" name="Freeform 11"/>
          <p:cNvSpPr/>
          <p:nvPr/>
        </p:nvSpPr>
        <p:spPr>
          <a:xfrm rot="1616795" flipV="1">
            <a:off x="410382" y="-403829"/>
            <a:ext cx="3769377" cy="2179492"/>
          </a:xfrm>
          <a:custGeom>
            <a:avLst/>
            <a:gdLst/>
            <a:ahLst/>
            <a:cxnLst/>
            <a:rect l="l" t="t" r="r" b="b"/>
            <a:pathLst>
              <a:path w="3769377" h="2179492">
                <a:moveTo>
                  <a:pt x="0" y="2179492"/>
                </a:moveTo>
                <a:lnTo>
                  <a:pt x="3769378" y="2179492"/>
                </a:lnTo>
                <a:lnTo>
                  <a:pt x="3769378" y="0"/>
                </a:lnTo>
                <a:lnTo>
                  <a:pt x="0" y="0"/>
                </a:lnTo>
                <a:lnTo>
                  <a:pt x="0" y="2179492"/>
                </a:lnTo>
                <a:close/>
              </a:path>
            </a:pathLst>
          </a:custGeom>
          <a:blipFill>
            <a:blip r:embed="rId9"/>
            <a:stretch>
              <a:fillRect b="-51329"/>
            </a:stretch>
          </a:blipFill>
        </p:spPr>
      </p:sp>
      <p:sp>
        <p:nvSpPr>
          <p:cNvPr id="12" name="Freeform 12"/>
          <p:cNvSpPr/>
          <p:nvPr/>
        </p:nvSpPr>
        <p:spPr>
          <a:xfrm rot="-105436" flipH="1">
            <a:off x="-144969" y="1925162"/>
            <a:ext cx="2551630" cy="5238590"/>
          </a:xfrm>
          <a:custGeom>
            <a:avLst/>
            <a:gdLst/>
            <a:ahLst/>
            <a:cxnLst/>
            <a:rect l="l" t="t" r="r" b="b"/>
            <a:pathLst>
              <a:path w="2551630" h="5238590">
                <a:moveTo>
                  <a:pt x="2551630" y="0"/>
                </a:moveTo>
                <a:lnTo>
                  <a:pt x="0" y="0"/>
                </a:lnTo>
                <a:lnTo>
                  <a:pt x="0" y="5238590"/>
                </a:lnTo>
                <a:lnTo>
                  <a:pt x="2551630" y="5238590"/>
                </a:lnTo>
                <a:lnTo>
                  <a:pt x="2551630" y="0"/>
                </a:lnTo>
                <a:close/>
              </a:path>
            </a:pathLst>
          </a:custGeom>
          <a:blipFill>
            <a:blip r:embed="rId3"/>
            <a:stretch>
              <a:fillRect/>
            </a:stretch>
          </a:blipFill>
        </p:spPr>
      </p:sp>
      <p:sp>
        <p:nvSpPr>
          <p:cNvPr id="13" name="Freeform 13"/>
          <p:cNvSpPr/>
          <p:nvPr/>
        </p:nvSpPr>
        <p:spPr>
          <a:xfrm>
            <a:off x="385336" y="1028700"/>
            <a:ext cx="7748962" cy="4360111"/>
          </a:xfrm>
          <a:custGeom>
            <a:avLst/>
            <a:gdLst/>
            <a:ahLst/>
            <a:cxnLst/>
            <a:rect l="l" t="t" r="r" b="b"/>
            <a:pathLst>
              <a:path w="7748962" h="4360111">
                <a:moveTo>
                  <a:pt x="0" y="0"/>
                </a:moveTo>
                <a:lnTo>
                  <a:pt x="7748962" y="0"/>
                </a:lnTo>
                <a:lnTo>
                  <a:pt x="7748962" y="4360111"/>
                </a:lnTo>
                <a:lnTo>
                  <a:pt x="0" y="4360111"/>
                </a:lnTo>
                <a:lnTo>
                  <a:pt x="0" y="0"/>
                </a:lnTo>
                <a:close/>
              </a:path>
            </a:pathLst>
          </a:custGeom>
          <a:blipFill>
            <a:blip r:embed="rId10"/>
            <a:stretch>
              <a:fillRect/>
            </a:stretch>
          </a:blipFill>
        </p:spPr>
      </p:sp>
      <p:sp>
        <p:nvSpPr>
          <p:cNvPr id="14" name="Freeform 14"/>
          <p:cNvSpPr/>
          <p:nvPr/>
        </p:nvSpPr>
        <p:spPr>
          <a:xfrm>
            <a:off x="385336" y="5595140"/>
            <a:ext cx="7748962" cy="4348409"/>
          </a:xfrm>
          <a:custGeom>
            <a:avLst/>
            <a:gdLst/>
            <a:ahLst/>
            <a:cxnLst/>
            <a:rect l="l" t="t" r="r" b="b"/>
            <a:pathLst>
              <a:path w="7748962" h="4348409">
                <a:moveTo>
                  <a:pt x="0" y="0"/>
                </a:moveTo>
                <a:lnTo>
                  <a:pt x="7748962" y="0"/>
                </a:lnTo>
                <a:lnTo>
                  <a:pt x="7748962" y="4348409"/>
                </a:lnTo>
                <a:lnTo>
                  <a:pt x="0" y="4348409"/>
                </a:lnTo>
                <a:lnTo>
                  <a:pt x="0" y="0"/>
                </a:lnTo>
                <a:close/>
              </a:path>
            </a:pathLst>
          </a:custGeom>
          <a:blipFill>
            <a:blip r:embed="rId11"/>
            <a:stretch>
              <a:fillRect/>
            </a:stretch>
          </a:blipFill>
        </p:spPr>
      </p:sp>
      <p:sp>
        <p:nvSpPr>
          <p:cNvPr id="15" name="Freeform 15"/>
          <p:cNvSpPr/>
          <p:nvPr/>
        </p:nvSpPr>
        <p:spPr>
          <a:xfrm>
            <a:off x="9941289" y="1028700"/>
            <a:ext cx="7589386" cy="4264140"/>
          </a:xfrm>
          <a:custGeom>
            <a:avLst/>
            <a:gdLst/>
            <a:ahLst/>
            <a:cxnLst/>
            <a:rect l="l" t="t" r="r" b="b"/>
            <a:pathLst>
              <a:path w="7589386" h="4264140">
                <a:moveTo>
                  <a:pt x="0" y="0"/>
                </a:moveTo>
                <a:lnTo>
                  <a:pt x="7589386" y="0"/>
                </a:lnTo>
                <a:lnTo>
                  <a:pt x="7589386" y="4264140"/>
                </a:lnTo>
                <a:lnTo>
                  <a:pt x="0" y="4264140"/>
                </a:lnTo>
                <a:lnTo>
                  <a:pt x="0" y="0"/>
                </a:lnTo>
                <a:close/>
              </a:path>
            </a:pathLst>
          </a:custGeom>
          <a:blipFill>
            <a:blip r:embed="rId12"/>
            <a:stretch>
              <a:fillRect/>
            </a:stretch>
          </a:blipFill>
        </p:spPr>
      </p:sp>
      <p:sp>
        <p:nvSpPr>
          <p:cNvPr id="16" name="Freeform 16"/>
          <p:cNvSpPr/>
          <p:nvPr/>
        </p:nvSpPr>
        <p:spPr>
          <a:xfrm>
            <a:off x="9905219" y="5662465"/>
            <a:ext cx="7661526" cy="4308282"/>
          </a:xfrm>
          <a:custGeom>
            <a:avLst/>
            <a:gdLst/>
            <a:ahLst/>
            <a:cxnLst/>
            <a:rect l="l" t="t" r="r" b="b"/>
            <a:pathLst>
              <a:path w="7661526" h="4308282">
                <a:moveTo>
                  <a:pt x="0" y="0"/>
                </a:moveTo>
                <a:lnTo>
                  <a:pt x="7661526" y="0"/>
                </a:lnTo>
                <a:lnTo>
                  <a:pt x="7661526" y="4308282"/>
                </a:lnTo>
                <a:lnTo>
                  <a:pt x="0" y="4308282"/>
                </a:lnTo>
                <a:lnTo>
                  <a:pt x="0" y="0"/>
                </a:lnTo>
                <a:close/>
              </a:path>
            </a:pathLst>
          </a:custGeom>
          <a:blipFill>
            <a:blip r:embed="rId13"/>
            <a:stretch>
              <a:fillRect/>
            </a:stretch>
          </a:blipFill>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8710" t="-55975" r="-1305" b="-17361"/>
            </a:stretch>
          </a:blipFill>
        </p:spPr>
      </p:sp>
      <p:sp>
        <p:nvSpPr>
          <p:cNvPr id="3" name="Freeform 3"/>
          <p:cNvSpPr/>
          <p:nvPr/>
        </p:nvSpPr>
        <p:spPr>
          <a:xfrm rot="232631">
            <a:off x="15975808" y="1967543"/>
            <a:ext cx="2551630" cy="5238590"/>
          </a:xfrm>
          <a:custGeom>
            <a:avLst/>
            <a:gdLst/>
            <a:ahLst/>
            <a:cxnLst/>
            <a:rect l="l" t="t" r="r" b="b"/>
            <a:pathLst>
              <a:path w="2551630" h="5238590">
                <a:moveTo>
                  <a:pt x="0" y="0"/>
                </a:moveTo>
                <a:lnTo>
                  <a:pt x="2551630" y="0"/>
                </a:lnTo>
                <a:lnTo>
                  <a:pt x="2551630" y="5238591"/>
                </a:lnTo>
                <a:lnTo>
                  <a:pt x="0" y="5238591"/>
                </a:lnTo>
                <a:lnTo>
                  <a:pt x="0" y="0"/>
                </a:lnTo>
                <a:close/>
              </a:path>
            </a:pathLst>
          </a:custGeom>
          <a:blipFill>
            <a:blip r:embed="rId3"/>
            <a:stretch>
              <a:fillRect/>
            </a:stretch>
          </a:blipFill>
        </p:spPr>
      </p:sp>
      <p:sp>
        <p:nvSpPr>
          <p:cNvPr id="4" name="Freeform 4"/>
          <p:cNvSpPr/>
          <p:nvPr/>
        </p:nvSpPr>
        <p:spPr>
          <a:xfrm rot="10183351" flipH="1">
            <a:off x="-594103" y="5812331"/>
            <a:ext cx="2677595" cy="2701230"/>
          </a:xfrm>
          <a:custGeom>
            <a:avLst/>
            <a:gdLst/>
            <a:ahLst/>
            <a:cxnLst/>
            <a:rect l="l" t="t" r="r" b="b"/>
            <a:pathLst>
              <a:path w="2677595" h="2701230">
                <a:moveTo>
                  <a:pt x="2677594" y="0"/>
                </a:moveTo>
                <a:lnTo>
                  <a:pt x="0" y="0"/>
                </a:lnTo>
                <a:lnTo>
                  <a:pt x="0" y="2701231"/>
                </a:lnTo>
                <a:lnTo>
                  <a:pt x="2677594" y="2701231"/>
                </a:lnTo>
                <a:lnTo>
                  <a:pt x="2677594" y="0"/>
                </a:lnTo>
                <a:close/>
              </a:path>
            </a:pathLst>
          </a:custGeom>
          <a:blipFill>
            <a:blip r:embed="rId4"/>
            <a:stretch>
              <a:fillRect/>
            </a:stretch>
          </a:blipFill>
        </p:spPr>
      </p:sp>
      <p:sp>
        <p:nvSpPr>
          <p:cNvPr id="5" name="Freeform 5"/>
          <p:cNvSpPr/>
          <p:nvPr/>
        </p:nvSpPr>
        <p:spPr>
          <a:xfrm rot="-275437">
            <a:off x="16407370" y="5268865"/>
            <a:ext cx="2455882" cy="4465240"/>
          </a:xfrm>
          <a:custGeom>
            <a:avLst/>
            <a:gdLst/>
            <a:ahLst/>
            <a:cxnLst/>
            <a:rect l="l" t="t" r="r" b="b"/>
            <a:pathLst>
              <a:path w="2455882" h="4465240">
                <a:moveTo>
                  <a:pt x="0" y="0"/>
                </a:moveTo>
                <a:lnTo>
                  <a:pt x="2455882" y="0"/>
                </a:lnTo>
                <a:lnTo>
                  <a:pt x="2455882" y="4465239"/>
                </a:lnTo>
                <a:lnTo>
                  <a:pt x="0" y="4465239"/>
                </a:lnTo>
                <a:lnTo>
                  <a:pt x="0" y="0"/>
                </a:lnTo>
                <a:close/>
              </a:path>
            </a:pathLst>
          </a:custGeom>
          <a:blipFill>
            <a:blip r:embed="rId5"/>
            <a:stretch>
              <a:fillRect/>
            </a:stretch>
          </a:blipFill>
        </p:spPr>
      </p:sp>
      <p:sp>
        <p:nvSpPr>
          <p:cNvPr id="6" name="Freeform 6"/>
          <p:cNvSpPr/>
          <p:nvPr/>
        </p:nvSpPr>
        <p:spPr>
          <a:xfrm rot="-5823174">
            <a:off x="-672347" y="8461400"/>
            <a:ext cx="2834082" cy="2288521"/>
          </a:xfrm>
          <a:custGeom>
            <a:avLst/>
            <a:gdLst/>
            <a:ahLst/>
            <a:cxnLst/>
            <a:rect l="l" t="t" r="r" b="b"/>
            <a:pathLst>
              <a:path w="2834082" h="2288521">
                <a:moveTo>
                  <a:pt x="0" y="0"/>
                </a:moveTo>
                <a:lnTo>
                  <a:pt x="2834082" y="0"/>
                </a:lnTo>
                <a:lnTo>
                  <a:pt x="2834082" y="2288521"/>
                </a:lnTo>
                <a:lnTo>
                  <a:pt x="0" y="2288521"/>
                </a:lnTo>
                <a:lnTo>
                  <a:pt x="0" y="0"/>
                </a:lnTo>
                <a:close/>
              </a:path>
            </a:pathLst>
          </a:custGeom>
          <a:blipFill>
            <a:blip r:embed="rId6"/>
            <a:stretch>
              <a:fillRect/>
            </a:stretch>
          </a:blipFill>
        </p:spPr>
      </p:sp>
      <p:sp>
        <p:nvSpPr>
          <p:cNvPr id="7" name="Freeform 7"/>
          <p:cNvSpPr/>
          <p:nvPr/>
        </p:nvSpPr>
        <p:spPr>
          <a:xfrm rot="-10045849">
            <a:off x="15517119" y="8341422"/>
            <a:ext cx="2921612" cy="2947402"/>
          </a:xfrm>
          <a:custGeom>
            <a:avLst/>
            <a:gdLst/>
            <a:ahLst/>
            <a:cxnLst/>
            <a:rect l="l" t="t" r="r" b="b"/>
            <a:pathLst>
              <a:path w="2921612" h="2947402">
                <a:moveTo>
                  <a:pt x="0" y="0"/>
                </a:moveTo>
                <a:lnTo>
                  <a:pt x="2921612" y="0"/>
                </a:lnTo>
                <a:lnTo>
                  <a:pt x="2921612" y="2947402"/>
                </a:lnTo>
                <a:lnTo>
                  <a:pt x="0" y="2947402"/>
                </a:lnTo>
                <a:lnTo>
                  <a:pt x="0" y="0"/>
                </a:lnTo>
                <a:close/>
              </a:path>
            </a:pathLst>
          </a:custGeom>
          <a:blipFill>
            <a:blip r:embed="rId4"/>
            <a:stretch>
              <a:fillRect/>
            </a:stretch>
          </a:blipFill>
        </p:spPr>
      </p:sp>
      <p:sp>
        <p:nvSpPr>
          <p:cNvPr id="8" name="Freeform 8"/>
          <p:cNvSpPr/>
          <p:nvPr/>
        </p:nvSpPr>
        <p:spPr>
          <a:xfrm>
            <a:off x="16936502" y="7501484"/>
            <a:ext cx="630244" cy="630244"/>
          </a:xfrm>
          <a:custGeom>
            <a:avLst/>
            <a:gdLst/>
            <a:ahLst/>
            <a:cxnLst/>
            <a:rect l="l" t="t" r="r" b="b"/>
            <a:pathLst>
              <a:path w="630244" h="630244">
                <a:moveTo>
                  <a:pt x="0" y="0"/>
                </a:moveTo>
                <a:lnTo>
                  <a:pt x="630243" y="0"/>
                </a:lnTo>
                <a:lnTo>
                  <a:pt x="630243" y="630244"/>
                </a:lnTo>
                <a:lnTo>
                  <a:pt x="0" y="63024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Freeform 9"/>
          <p:cNvSpPr/>
          <p:nvPr/>
        </p:nvSpPr>
        <p:spPr>
          <a:xfrm>
            <a:off x="1028700" y="9267772"/>
            <a:ext cx="675776" cy="675776"/>
          </a:xfrm>
          <a:custGeom>
            <a:avLst/>
            <a:gdLst/>
            <a:ahLst/>
            <a:cxnLst/>
            <a:rect l="l" t="t" r="r" b="b"/>
            <a:pathLst>
              <a:path w="675776" h="675776">
                <a:moveTo>
                  <a:pt x="0" y="0"/>
                </a:moveTo>
                <a:lnTo>
                  <a:pt x="675776" y="0"/>
                </a:lnTo>
                <a:lnTo>
                  <a:pt x="675776" y="675777"/>
                </a:lnTo>
                <a:lnTo>
                  <a:pt x="0" y="67577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Freeform 10"/>
          <p:cNvSpPr/>
          <p:nvPr/>
        </p:nvSpPr>
        <p:spPr>
          <a:xfrm rot="-1101683">
            <a:off x="14345773" y="-170538"/>
            <a:ext cx="3086985" cy="1784926"/>
          </a:xfrm>
          <a:custGeom>
            <a:avLst/>
            <a:gdLst/>
            <a:ahLst/>
            <a:cxnLst/>
            <a:rect l="l" t="t" r="r" b="b"/>
            <a:pathLst>
              <a:path w="3086985" h="1784926">
                <a:moveTo>
                  <a:pt x="0" y="0"/>
                </a:moveTo>
                <a:lnTo>
                  <a:pt x="3086985" y="0"/>
                </a:lnTo>
                <a:lnTo>
                  <a:pt x="3086985" y="1784926"/>
                </a:lnTo>
                <a:lnTo>
                  <a:pt x="0" y="1784926"/>
                </a:lnTo>
                <a:lnTo>
                  <a:pt x="0" y="0"/>
                </a:lnTo>
                <a:close/>
              </a:path>
            </a:pathLst>
          </a:custGeom>
          <a:blipFill>
            <a:blip r:embed="rId9"/>
            <a:stretch>
              <a:fillRect b="-51329"/>
            </a:stretch>
          </a:blipFill>
        </p:spPr>
      </p:sp>
      <p:sp>
        <p:nvSpPr>
          <p:cNvPr id="11" name="Freeform 11"/>
          <p:cNvSpPr/>
          <p:nvPr/>
        </p:nvSpPr>
        <p:spPr>
          <a:xfrm rot="1616795" flipV="1">
            <a:off x="410382" y="-403829"/>
            <a:ext cx="3769377" cy="2179492"/>
          </a:xfrm>
          <a:custGeom>
            <a:avLst/>
            <a:gdLst/>
            <a:ahLst/>
            <a:cxnLst/>
            <a:rect l="l" t="t" r="r" b="b"/>
            <a:pathLst>
              <a:path w="3769377" h="2179492">
                <a:moveTo>
                  <a:pt x="0" y="2179492"/>
                </a:moveTo>
                <a:lnTo>
                  <a:pt x="3769378" y="2179492"/>
                </a:lnTo>
                <a:lnTo>
                  <a:pt x="3769378" y="0"/>
                </a:lnTo>
                <a:lnTo>
                  <a:pt x="0" y="0"/>
                </a:lnTo>
                <a:lnTo>
                  <a:pt x="0" y="2179492"/>
                </a:lnTo>
                <a:close/>
              </a:path>
            </a:pathLst>
          </a:custGeom>
          <a:blipFill>
            <a:blip r:embed="rId9"/>
            <a:stretch>
              <a:fillRect b="-51329"/>
            </a:stretch>
          </a:blipFill>
        </p:spPr>
      </p:sp>
      <p:sp>
        <p:nvSpPr>
          <p:cNvPr id="12" name="Freeform 12"/>
          <p:cNvSpPr/>
          <p:nvPr/>
        </p:nvSpPr>
        <p:spPr>
          <a:xfrm rot="-105436" flipH="1">
            <a:off x="-144969" y="1925162"/>
            <a:ext cx="2551630" cy="5238590"/>
          </a:xfrm>
          <a:custGeom>
            <a:avLst/>
            <a:gdLst/>
            <a:ahLst/>
            <a:cxnLst/>
            <a:rect l="l" t="t" r="r" b="b"/>
            <a:pathLst>
              <a:path w="2551630" h="5238590">
                <a:moveTo>
                  <a:pt x="2551630" y="0"/>
                </a:moveTo>
                <a:lnTo>
                  <a:pt x="0" y="0"/>
                </a:lnTo>
                <a:lnTo>
                  <a:pt x="0" y="5238590"/>
                </a:lnTo>
                <a:lnTo>
                  <a:pt x="2551630" y="5238590"/>
                </a:lnTo>
                <a:lnTo>
                  <a:pt x="2551630" y="0"/>
                </a:lnTo>
                <a:close/>
              </a:path>
            </a:pathLst>
          </a:custGeom>
          <a:blipFill>
            <a:blip r:embed="rId3"/>
            <a:stretch>
              <a:fillRect/>
            </a:stretch>
          </a:blipFill>
        </p:spPr>
      </p:sp>
      <p:sp>
        <p:nvSpPr>
          <p:cNvPr id="13" name="TextBox 13"/>
          <p:cNvSpPr txBox="1"/>
          <p:nvPr/>
        </p:nvSpPr>
        <p:spPr>
          <a:xfrm>
            <a:off x="4468967" y="1637019"/>
            <a:ext cx="9350067" cy="874395"/>
          </a:xfrm>
          <a:prstGeom prst="rect">
            <a:avLst/>
          </a:prstGeom>
        </p:spPr>
        <p:txBody>
          <a:bodyPr lIns="0" tIns="0" rIns="0" bIns="0" rtlCol="0" anchor="t">
            <a:spAutoFit/>
          </a:bodyPr>
          <a:lstStyle/>
          <a:p>
            <a:pPr algn="ctr">
              <a:lnSpc>
                <a:spcPts val="6839"/>
              </a:lnSpc>
            </a:pPr>
            <a:r>
              <a:rPr lang="en-US" sz="5999" b="1">
                <a:solidFill>
                  <a:srgbClr val="FFDA66"/>
                </a:solidFill>
                <a:latin typeface="Playpen Sans Bold"/>
                <a:ea typeface="Playpen Sans Bold"/>
                <a:cs typeface="Playpen Sans Bold"/>
                <a:sym typeface="Playpen Sans Bold"/>
              </a:rPr>
              <a:t>maintenance</a:t>
            </a:r>
          </a:p>
        </p:txBody>
      </p:sp>
      <p:sp>
        <p:nvSpPr>
          <p:cNvPr id="14" name="TextBox 14"/>
          <p:cNvSpPr txBox="1"/>
          <p:nvPr/>
        </p:nvSpPr>
        <p:spPr>
          <a:xfrm>
            <a:off x="2486383" y="3503161"/>
            <a:ext cx="12955832" cy="4464685"/>
          </a:xfrm>
          <a:prstGeom prst="rect">
            <a:avLst/>
          </a:prstGeom>
        </p:spPr>
        <p:txBody>
          <a:bodyPr lIns="0" tIns="0" rIns="0" bIns="0" rtlCol="0" anchor="t">
            <a:spAutoFit/>
          </a:bodyPr>
          <a:lstStyle/>
          <a:p>
            <a:pPr algn="l">
              <a:lnSpc>
                <a:spcPts val="2990"/>
              </a:lnSpc>
            </a:pPr>
            <a:r>
              <a:rPr lang="en-US" sz="2600" b="1">
                <a:solidFill>
                  <a:srgbClr val="FFFFFF"/>
                </a:solidFill>
                <a:latin typeface="Playpen Sans Bold"/>
                <a:ea typeface="Playpen Sans Bold"/>
                <a:cs typeface="Playpen Sans Bold"/>
                <a:sym typeface="Playpen Sans Bold"/>
              </a:rPr>
              <a:t>Tahap terakhir adalah pemeliharaan untuk menjaga agar aplikasi tetap berfungsi dengan baik dan memenuhi kebutuhan pengguna.</a:t>
            </a:r>
          </a:p>
          <a:p>
            <a:pPr marL="561341" lvl="1" indent="-280670" algn="l">
              <a:lnSpc>
                <a:spcPts val="2990"/>
              </a:lnSpc>
              <a:buFont typeface="Arial"/>
              <a:buChar char="•"/>
            </a:pPr>
            <a:r>
              <a:rPr lang="en-US" sz="2600" b="1">
                <a:solidFill>
                  <a:srgbClr val="FFFFFF"/>
                </a:solidFill>
                <a:latin typeface="Playpen Sans Bold"/>
                <a:ea typeface="Playpen Sans Bold"/>
                <a:cs typeface="Playpen Sans Bold"/>
                <a:sym typeface="Playpen Sans Bold"/>
              </a:rPr>
              <a:t>Pemeliharaan Bug</a:t>
            </a:r>
          </a:p>
          <a:p>
            <a:pPr algn="l">
              <a:lnSpc>
                <a:spcPts val="2990"/>
              </a:lnSpc>
            </a:pPr>
            <a:r>
              <a:rPr lang="en-US" sz="2600" b="1">
                <a:solidFill>
                  <a:srgbClr val="FFFFFF"/>
                </a:solidFill>
                <a:latin typeface="Playpen Sans Bold"/>
                <a:ea typeface="Playpen Sans Bold"/>
                <a:cs typeface="Playpen Sans Bold"/>
                <a:sym typeface="Playpen Sans Bold"/>
              </a:rPr>
              <a:t>Memperbaiki bug atau masalah yang muncul setelah aplikasi digunakan.</a:t>
            </a:r>
          </a:p>
          <a:p>
            <a:pPr marL="561341" lvl="1" indent="-280670" algn="l">
              <a:lnSpc>
                <a:spcPts val="2990"/>
              </a:lnSpc>
              <a:buFont typeface="Arial"/>
              <a:buChar char="•"/>
            </a:pPr>
            <a:r>
              <a:rPr lang="en-US" sz="2600" b="1">
                <a:solidFill>
                  <a:srgbClr val="FFFFFF"/>
                </a:solidFill>
                <a:latin typeface="Playpen Sans Bold"/>
                <a:ea typeface="Playpen Sans Bold"/>
                <a:cs typeface="Playpen Sans Bold"/>
                <a:sym typeface="Playpen Sans Bold"/>
              </a:rPr>
              <a:t>Peningkatan Fitur</a:t>
            </a:r>
          </a:p>
          <a:p>
            <a:pPr algn="l">
              <a:lnSpc>
                <a:spcPts val="2990"/>
              </a:lnSpc>
            </a:pPr>
            <a:r>
              <a:rPr lang="en-US" sz="2600" b="1">
                <a:solidFill>
                  <a:srgbClr val="FFFFFF"/>
                </a:solidFill>
                <a:latin typeface="Playpen Sans Bold"/>
                <a:ea typeface="Playpen Sans Bold"/>
                <a:cs typeface="Playpen Sans Bold"/>
                <a:sym typeface="Playpen Sans Bold"/>
              </a:rPr>
              <a:t>Menambahkan fitur tambahan seperti laporan bulanan atau integrasi dengan sistem penggajian jika dibutuhkan.</a:t>
            </a:r>
          </a:p>
          <a:p>
            <a:pPr marL="561341" lvl="1" indent="-280670" algn="l">
              <a:lnSpc>
                <a:spcPts val="2990"/>
              </a:lnSpc>
              <a:buFont typeface="Arial"/>
              <a:buChar char="•"/>
            </a:pPr>
            <a:r>
              <a:rPr lang="en-US" sz="2600" b="1">
                <a:solidFill>
                  <a:srgbClr val="FFFFFF"/>
                </a:solidFill>
                <a:latin typeface="Playpen Sans Bold"/>
                <a:ea typeface="Playpen Sans Bold"/>
                <a:cs typeface="Playpen Sans Bold"/>
                <a:sym typeface="Playpen Sans Bold"/>
              </a:rPr>
              <a:t>Optimasi Sistem</a:t>
            </a:r>
          </a:p>
          <a:p>
            <a:pPr algn="l">
              <a:lnSpc>
                <a:spcPts val="2990"/>
              </a:lnSpc>
            </a:pPr>
            <a:r>
              <a:rPr lang="en-US" sz="2600" b="1">
                <a:solidFill>
                  <a:srgbClr val="FFFFFF"/>
                </a:solidFill>
                <a:latin typeface="Playpen Sans Bold"/>
                <a:ea typeface="Playpen Sans Bold"/>
                <a:cs typeface="Playpen Sans Bold"/>
                <a:sym typeface="Playpen Sans Bold"/>
              </a:rPr>
              <a:t>Melakukan pembaruan pada sistem keamanan dan optimasi performa database jika jumlah data bertambah.</a:t>
            </a:r>
          </a:p>
          <a:p>
            <a:pPr algn="l">
              <a:lnSpc>
                <a:spcPts val="2990"/>
              </a:lnSpc>
            </a:pPr>
            <a:endParaRPr lang="en-US" sz="2600" b="1">
              <a:solidFill>
                <a:srgbClr val="FFFFFF"/>
              </a:solidFill>
              <a:latin typeface="Playpen Sans Bold"/>
              <a:ea typeface="Playpen Sans Bold"/>
              <a:cs typeface="Playpen Sans Bold"/>
              <a:sym typeface="Playpen Sans Bold"/>
            </a:endParaRPr>
          </a:p>
          <a:p>
            <a:pPr algn="l">
              <a:lnSpc>
                <a:spcPts val="2990"/>
              </a:lnSpc>
            </a:pPr>
            <a:endParaRPr lang="en-US" sz="2600" b="1">
              <a:solidFill>
                <a:srgbClr val="FFFFFF"/>
              </a:solidFill>
              <a:latin typeface="Playpen Sans Bold"/>
              <a:ea typeface="Playpen Sans Bold"/>
              <a:cs typeface="Playpen Sans Bold"/>
              <a:sym typeface="Playpen Sans Bold"/>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8710" t="-55975" r="-1305" b="-17361"/>
            </a:stretch>
          </a:blipFill>
        </p:spPr>
      </p:sp>
      <p:sp>
        <p:nvSpPr>
          <p:cNvPr id="3" name="Freeform 3"/>
          <p:cNvSpPr/>
          <p:nvPr/>
        </p:nvSpPr>
        <p:spPr>
          <a:xfrm rot="232631">
            <a:off x="15975808" y="1967543"/>
            <a:ext cx="2551630" cy="5238590"/>
          </a:xfrm>
          <a:custGeom>
            <a:avLst/>
            <a:gdLst/>
            <a:ahLst/>
            <a:cxnLst/>
            <a:rect l="l" t="t" r="r" b="b"/>
            <a:pathLst>
              <a:path w="2551630" h="5238590">
                <a:moveTo>
                  <a:pt x="0" y="0"/>
                </a:moveTo>
                <a:lnTo>
                  <a:pt x="2551630" y="0"/>
                </a:lnTo>
                <a:lnTo>
                  <a:pt x="2551630" y="5238591"/>
                </a:lnTo>
                <a:lnTo>
                  <a:pt x="0" y="5238591"/>
                </a:lnTo>
                <a:lnTo>
                  <a:pt x="0" y="0"/>
                </a:lnTo>
                <a:close/>
              </a:path>
            </a:pathLst>
          </a:custGeom>
          <a:blipFill>
            <a:blip r:embed="rId3"/>
            <a:stretch>
              <a:fillRect/>
            </a:stretch>
          </a:blipFill>
        </p:spPr>
      </p:sp>
      <p:sp>
        <p:nvSpPr>
          <p:cNvPr id="4" name="Freeform 4"/>
          <p:cNvSpPr/>
          <p:nvPr/>
        </p:nvSpPr>
        <p:spPr>
          <a:xfrm rot="10183351" flipH="1">
            <a:off x="-594103" y="5812331"/>
            <a:ext cx="2677595" cy="2701230"/>
          </a:xfrm>
          <a:custGeom>
            <a:avLst/>
            <a:gdLst/>
            <a:ahLst/>
            <a:cxnLst/>
            <a:rect l="l" t="t" r="r" b="b"/>
            <a:pathLst>
              <a:path w="2677595" h="2701230">
                <a:moveTo>
                  <a:pt x="2677594" y="0"/>
                </a:moveTo>
                <a:lnTo>
                  <a:pt x="0" y="0"/>
                </a:lnTo>
                <a:lnTo>
                  <a:pt x="0" y="2701231"/>
                </a:lnTo>
                <a:lnTo>
                  <a:pt x="2677594" y="2701231"/>
                </a:lnTo>
                <a:lnTo>
                  <a:pt x="2677594" y="0"/>
                </a:lnTo>
                <a:close/>
              </a:path>
            </a:pathLst>
          </a:custGeom>
          <a:blipFill>
            <a:blip r:embed="rId4"/>
            <a:stretch>
              <a:fillRect/>
            </a:stretch>
          </a:blipFill>
        </p:spPr>
      </p:sp>
      <p:sp>
        <p:nvSpPr>
          <p:cNvPr id="5" name="Freeform 5"/>
          <p:cNvSpPr/>
          <p:nvPr/>
        </p:nvSpPr>
        <p:spPr>
          <a:xfrm rot="-275437">
            <a:off x="16407370" y="5268865"/>
            <a:ext cx="2455882" cy="4465240"/>
          </a:xfrm>
          <a:custGeom>
            <a:avLst/>
            <a:gdLst/>
            <a:ahLst/>
            <a:cxnLst/>
            <a:rect l="l" t="t" r="r" b="b"/>
            <a:pathLst>
              <a:path w="2455882" h="4465240">
                <a:moveTo>
                  <a:pt x="0" y="0"/>
                </a:moveTo>
                <a:lnTo>
                  <a:pt x="2455882" y="0"/>
                </a:lnTo>
                <a:lnTo>
                  <a:pt x="2455882" y="4465239"/>
                </a:lnTo>
                <a:lnTo>
                  <a:pt x="0" y="4465239"/>
                </a:lnTo>
                <a:lnTo>
                  <a:pt x="0" y="0"/>
                </a:lnTo>
                <a:close/>
              </a:path>
            </a:pathLst>
          </a:custGeom>
          <a:blipFill>
            <a:blip r:embed="rId5"/>
            <a:stretch>
              <a:fillRect/>
            </a:stretch>
          </a:blipFill>
        </p:spPr>
      </p:sp>
      <p:sp>
        <p:nvSpPr>
          <p:cNvPr id="6" name="Freeform 6"/>
          <p:cNvSpPr/>
          <p:nvPr/>
        </p:nvSpPr>
        <p:spPr>
          <a:xfrm rot="-5823174">
            <a:off x="-672347" y="8461400"/>
            <a:ext cx="2834082" cy="2288521"/>
          </a:xfrm>
          <a:custGeom>
            <a:avLst/>
            <a:gdLst/>
            <a:ahLst/>
            <a:cxnLst/>
            <a:rect l="l" t="t" r="r" b="b"/>
            <a:pathLst>
              <a:path w="2834082" h="2288521">
                <a:moveTo>
                  <a:pt x="0" y="0"/>
                </a:moveTo>
                <a:lnTo>
                  <a:pt x="2834082" y="0"/>
                </a:lnTo>
                <a:lnTo>
                  <a:pt x="2834082" y="2288521"/>
                </a:lnTo>
                <a:lnTo>
                  <a:pt x="0" y="2288521"/>
                </a:lnTo>
                <a:lnTo>
                  <a:pt x="0" y="0"/>
                </a:lnTo>
                <a:close/>
              </a:path>
            </a:pathLst>
          </a:custGeom>
          <a:blipFill>
            <a:blip r:embed="rId6"/>
            <a:stretch>
              <a:fillRect/>
            </a:stretch>
          </a:blipFill>
        </p:spPr>
      </p:sp>
      <p:sp>
        <p:nvSpPr>
          <p:cNvPr id="7" name="Freeform 7"/>
          <p:cNvSpPr/>
          <p:nvPr/>
        </p:nvSpPr>
        <p:spPr>
          <a:xfrm rot="-10045849">
            <a:off x="15517119" y="8341422"/>
            <a:ext cx="2921612" cy="2947402"/>
          </a:xfrm>
          <a:custGeom>
            <a:avLst/>
            <a:gdLst/>
            <a:ahLst/>
            <a:cxnLst/>
            <a:rect l="l" t="t" r="r" b="b"/>
            <a:pathLst>
              <a:path w="2921612" h="2947402">
                <a:moveTo>
                  <a:pt x="0" y="0"/>
                </a:moveTo>
                <a:lnTo>
                  <a:pt x="2921612" y="0"/>
                </a:lnTo>
                <a:lnTo>
                  <a:pt x="2921612" y="2947402"/>
                </a:lnTo>
                <a:lnTo>
                  <a:pt x="0" y="2947402"/>
                </a:lnTo>
                <a:lnTo>
                  <a:pt x="0" y="0"/>
                </a:lnTo>
                <a:close/>
              </a:path>
            </a:pathLst>
          </a:custGeom>
          <a:blipFill>
            <a:blip r:embed="rId4"/>
            <a:stretch>
              <a:fillRect/>
            </a:stretch>
          </a:blipFill>
        </p:spPr>
      </p:sp>
      <p:sp>
        <p:nvSpPr>
          <p:cNvPr id="8" name="Freeform 8"/>
          <p:cNvSpPr/>
          <p:nvPr/>
        </p:nvSpPr>
        <p:spPr>
          <a:xfrm>
            <a:off x="16936502" y="7501484"/>
            <a:ext cx="630244" cy="630244"/>
          </a:xfrm>
          <a:custGeom>
            <a:avLst/>
            <a:gdLst/>
            <a:ahLst/>
            <a:cxnLst/>
            <a:rect l="l" t="t" r="r" b="b"/>
            <a:pathLst>
              <a:path w="630244" h="630244">
                <a:moveTo>
                  <a:pt x="0" y="0"/>
                </a:moveTo>
                <a:lnTo>
                  <a:pt x="630243" y="0"/>
                </a:lnTo>
                <a:lnTo>
                  <a:pt x="630243" y="630244"/>
                </a:lnTo>
                <a:lnTo>
                  <a:pt x="0" y="63024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Freeform 9"/>
          <p:cNvSpPr/>
          <p:nvPr/>
        </p:nvSpPr>
        <p:spPr>
          <a:xfrm>
            <a:off x="1028700" y="9267772"/>
            <a:ext cx="675776" cy="675776"/>
          </a:xfrm>
          <a:custGeom>
            <a:avLst/>
            <a:gdLst/>
            <a:ahLst/>
            <a:cxnLst/>
            <a:rect l="l" t="t" r="r" b="b"/>
            <a:pathLst>
              <a:path w="675776" h="675776">
                <a:moveTo>
                  <a:pt x="0" y="0"/>
                </a:moveTo>
                <a:lnTo>
                  <a:pt x="675776" y="0"/>
                </a:lnTo>
                <a:lnTo>
                  <a:pt x="675776" y="675777"/>
                </a:lnTo>
                <a:lnTo>
                  <a:pt x="0" y="67577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Freeform 10"/>
          <p:cNvSpPr/>
          <p:nvPr/>
        </p:nvSpPr>
        <p:spPr>
          <a:xfrm rot="-1101683">
            <a:off x="14345773" y="-170538"/>
            <a:ext cx="3086985" cy="1784926"/>
          </a:xfrm>
          <a:custGeom>
            <a:avLst/>
            <a:gdLst/>
            <a:ahLst/>
            <a:cxnLst/>
            <a:rect l="l" t="t" r="r" b="b"/>
            <a:pathLst>
              <a:path w="3086985" h="1784926">
                <a:moveTo>
                  <a:pt x="0" y="0"/>
                </a:moveTo>
                <a:lnTo>
                  <a:pt x="3086985" y="0"/>
                </a:lnTo>
                <a:lnTo>
                  <a:pt x="3086985" y="1784926"/>
                </a:lnTo>
                <a:lnTo>
                  <a:pt x="0" y="1784926"/>
                </a:lnTo>
                <a:lnTo>
                  <a:pt x="0" y="0"/>
                </a:lnTo>
                <a:close/>
              </a:path>
            </a:pathLst>
          </a:custGeom>
          <a:blipFill>
            <a:blip r:embed="rId9"/>
            <a:stretch>
              <a:fillRect b="-51329"/>
            </a:stretch>
          </a:blipFill>
        </p:spPr>
      </p:sp>
      <p:sp>
        <p:nvSpPr>
          <p:cNvPr id="11" name="Freeform 11"/>
          <p:cNvSpPr/>
          <p:nvPr/>
        </p:nvSpPr>
        <p:spPr>
          <a:xfrm rot="1616795" flipV="1">
            <a:off x="410382" y="-403829"/>
            <a:ext cx="3769377" cy="2179492"/>
          </a:xfrm>
          <a:custGeom>
            <a:avLst/>
            <a:gdLst/>
            <a:ahLst/>
            <a:cxnLst/>
            <a:rect l="l" t="t" r="r" b="b"/>
            <a:pathLst>
              <a:path w="3769377" h="2179492">
                <a:moveTo>
                  <a:pt x="0" y="2179492"/>
                </a:moveTo>
                <a:lnTo>
                  <a:pt x="3769378" y="2179492"/>
                </a:lnTo>
                <a:lnTo>
                  <a:pt x="3769378" y="0"/>
                </a:lnTo>
                <a:lnTo>
                  <a:pt x="0" y="0"/>
                </a:lnTo>
                <a:lnTo>
                  <a:pt x="0" y="2179492"/>
                </a:lnTo>
                <a:close/>
              </a:path>
            </a:pathLst>
          </a:custGeom>
          <a:blipFill>
            <a:blip r:embed="rId9"/>
            <a:stretch>
              <a:fillRect b="-51329"/>
            </a:stretch>
          </a:blipFill>
        </p:spPr>
      </p:sp>
      <p:sp>
        <p:nvSpPr>
          <p:cNvPr id="12" name="TextBox 12"/>
          <p:cNvSpPr txBox="1"/>
          <p:nvPr/>
        </p:nvSpPr>
        <p:spPr>
          <a:xfrm>
            <a:off x="4468967" y="1637019"/>
            <a:ext cx="9350067" cy="874395"/>
          </a:xfrm>
          <a:prstGeom prst="rect">
            <a:avLst/>
          </a:prstGeom>
        </p:spPr>
        <p:txBody>
          <a:bodyPr lIns="0" tIns="0" rIns="0" bIns="0" rtlCol="0" anchor="t">
            <a:spAutoFit/>
          </a:bodyPr>
          <a:lstStyle/>
          <a:p>
            <a:pPr algn="ctr">
              <a:lnSpc>
                <a:spcPts val="6839"/>
              </a:lnSpc>
            </a:pPr>
            <a:r>
              <a:rPr lang="en-US" sz="5999" b="1">
                <a:solidFill>
                  <a:srgbClr val="FFDA66"/>
                </a:solidFill>
                <a:latin typeface="Playpen Sans Bold"/>
                <a:ea typeface="Playpen Sans Bold"/>
                <a:cs typeface="Playpen Sans Bold"/>
                <a:sym typeface="Playpen Sans Bold"/>
              </a:rPr>
              <a:t>Daftar Pustaka</a:t>
            </a:r>
          </a:p>
        </p:txBody>
      </p:sp>
      <p:sp>
        <p:nvSpPr>
          <p:cNvPr id="13" name="Freeform 13"/>
          <p:cNvSpPr/>
          <p:nvPr/>
        </p:nvSpPr>
        <p:spPr>
          <a:xfrm rot="-105436" flipH="1">
            <a:off x="-144969" y="1925162"/>
            <a:ext cx="2551630" cy="5238590"/>
          </a:xfrm>
          <a:custGeom>
            <a:avLst/>
            <a:gdLst/>
            <a:ahLst/>
            <a:cxnLst/>
            <a:rect l="l" t="t" r="r" b="b"/>
            <a:pathLst>
              <a:path w="2551630" h="5238590">
                <a:moveTo>
                  <a:pt x="2551630" y="0"/>
                </a:moveTo>
                <a:lnTo>
                  <a:pt x="0" y="0"/>
                </a:lnTo>
                <a:lnTo>
                  <a:pt x="0" y="5238590"/>
                </a:lnTo>
                <a:lnTo>
                  <a:pt x="2551630" y="5238590"/>
                </a:lnTo>
                <a:lnTo>
                  <a:pt x="2551630" y="0"/>
                </a:lnTo>
                <a:close/>
              </a:path>
            </a:pathLst>
          </a:custGeom>
          <a:blipFill>
            <a:blip r:embed="rId3"/>
            <a:stretch>
              <a:fillRect/>
            </a:stretch>
          </a:blipFill>
        </p:spPr>
      </p:sp>
      <p:sp>
        <p:nvSpPr>
          <p:cNvPr id="14" name="TextBox 14"/>
          <p:cNvSpPr txBox="1"/>
          <p:nvPr/>
        </p:nvSpPr>
        <p:spPr>
          <a:xfrm>
            <a:off x="2295071" y="3359305"/>
            <a:ext cx="13594195" cy="4093210"/>
          </a:xfrm>
          <a:prstGeom prst="rect">
            <a:avLst/>
          </a:prstGeom>
        </p:spPr>
        <p:txBody>
          <a:bodyPr lIns="0" tIns="0" rIns="0" bIns="0" rtlCol="0" anchor="t">
            <a:spAutoFit/>
          </a:bodyPr>
          <a:lstStyle/>
          <a:p>
            <a:pPr algn="l">
              <a:lnSpc>
                <a:spcPts val="2990"/>
              </a:lnSpc>
            </a:pPr>
            <a:r>
              <a:rPr lang="en-US" sz="2600" b="1">
                <a:solidFill>
                  <a:srgbClr val="FFFFFF"/>
                </a:solidFill>
                <a:latin typeface="Playpen Sans Bold"/>
                <a:ea typeface="Playpen Sans Bold"/>
                <a:cs typeface="Playpen Sans Bold"/>
                <a:sym typeface="Playpen Sans Bold"/>
              </a:rPr>
              <a:t>https://dspace.uc.ac.id/bitstream/handle/123456789/1543/Bab%20III.pdf .</a:t>
            </a:r>
          </a:p>
          <a:p>
            <a:pPr algn="l">
              <a:lnSpc>
                <a:spcPts val="2990"/>
              </a:lnSpc>
            </a:pPr>
            <a:endParaRPr lang="en-US" sz="2600" b="1">
              <a:solidFill>
                <a:srgbClr val="FFFFFF"/>
              </a:solidFill>
              <a:latin typeface="Playpen Sans Bold"/>
              <a:ea typeface="Playpen Sans Bold"/>
              <a:cs typeface="Playpen Sans Bold"/>
              <a:sym typeface="Playpen Sans Bold"/>
            </a:endParaRPr>
          </a:p>
          <a:p>
            <a:pPr algn="l">
              <a:lnSpc>
                <a:spcPts val="2990"/>
              </a:lnSpc>
            </a:pPr>
            <a:r>
              <a:rPr lang="en-US" sz="2600" b="1">
                <a:solidFill>
                  <a:srgbClr val="FFFFFF"/>
                </a:solidFill>
                <a:latin typeface="Playpen Sans Bold"/>
                <a:ea typeface="Playpen Sans Bold"/>
                <a:cs typeface="Playpen Sans Bold"/>
                <a:sym typeface="Playpen Sans Bold"/>
              </a:rPr>
              <a:t>Seby, Yoyok, Dwanoko Sistem Informasi Fakultas Sains Dan Teknologi, Universitas Kanjuruhan Malang. n.d. “IMPLEMENTASI SOFTWARE DEVELOPMENT LIFE CYCLE (SDLC) DALAM PENERAPAN PEMBANGUNAN APLIKASI PERANGKAT LUNAK.” Jurnal Teknologi Informasi 7 (2).</a:t>
            </a:r>
          </a:p>
          <a:p>
            <a:pPr algn="l">
              <a:lnSpc>
                <a:spcPts val="2990"/>
              </a:lnSpc>
            </a:pPr>
            <a:endParaRPr lang="en-US" sz="2600" b="1">
              <a:solidFill>
                <a:srgbClr val="FFFFFF"/>
              </a:solidFill>
              <a:latin typeface="Playpen Sans Bold"/>
              <a:ea typeface="Playpen Sans Bold"/>
              <a:cs typeface="Playpen Sans Bold"/>
              <a:sym typeface="Playpen Sans Bold"/>
            </a:endParaRPr>
          </a:p>
          <a:p>
            <a:pPr algn="l">
              <a:lnSpc>
                <a:spcPts val="2990"/>
              </a:lnSpc>
            </a:pPr>
            <a:r>
              <a:rPr lang="en-US" sz="2600" b="1">
                <a:solidFill>
                  <a:srgbClr val="FFFFFF"/>
                </a:solidFill>
                <a:latin typeface="Playpen Sans Bold"/>
                <a:ea typeface="Playpen Sans Bold"/>
                <a:cs typeface="Playpen Sans Bold"/>
                <a:sym typeface="Playpen Sans Bold"/>
              </a:rPr>
              <a:t>https://media.neliti.com/media/publications/143003-ID-none.pdf.</a:t>
            </a:r>
          </a:p>
          <a:p>
            <a:pPr algn="l">
              <a:lnSpc>
                <a:spcPts val="2990"/>
              </a:lnSpc>
            </a:pPr>
            <a:r>
              <a:rPr lang="en-US" sz="2600" b="1">
                <a:solidFill>
                  <a:srgbClr val="FFFFFF"/>
                </a:solidFill>
                <a:latin typeface="Playpen Sans Bold"/>
                <a:ea typeface="Playpen Sans Bold"/>
                <a:cs typeface="Playpen Sans Bold"/>
                <a:sym typeface="Playpen Sans Bold"/>
              </a:rPr>
              <a:t>‌Hutahaean. (2018). Perancangan Sistem Web Inventory Barang. Jurnal Ilmiah Komputer Akuntansi</a:t>
            </a:r>
          </a:p>
          <a:p>
            <a:pPr algn="l">
              <a:lnSpc>
                <a:spcPts val="2990"/>
              </a:lnSpc>
            </a:pPr>
            <a:endParaRPr lang="en-US" sz="2600" b="1">
              <a:solidFill>
                <a:srgbClr val="FFFFFF"/>
              </a:solidFill>
              <a:latin typeface="Playpen Sans Bold"/>
              <a:ea typeface="Playpen Sans Bold"/>
              <a:cs typeface="Playpen Sans Bold"/>
              <a:sym typeface="Playpen Sans Bold"/>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8710" t="-55975" r="-1305" b="-17361"/>
            </a:stretch>
          </a:blipFill>
        </p:spPr>
      </p:sp>
      <p:sp>
        <p:nvSpPr>
          <p:cNvPr id="3" name="Freeform 3"/>
          <p:cNvSpPr/>
          <p:nvPr/>
        </p:nvSpPr>
        <p:spPr>
          <a:xfrm rot="-573428">
            <a:off x="-35117" y="700846"/>
            <a:ext cx="5261542" cy="5307987"/>
          </a:xfrm>
          <a:custGeom>
            <a:avLst/>
            <a:gdLst/>
            <a:ahLst/>
            <a:cxnLst/>
            <a:rect l="l" t="t" r="r" b="b"/>
            <a:pathLst>
              <a:path w="5261542" h="5307987">
                <a:moveTo>
                  <a:pt x="0" y="0"/>
                </a:moveTo>
                <a:lnTo>
                  <a:pt x="5261543" y="0"/>
                </a:lnTo>
                <a:lnTo>
                  <a:pt x="5261543" y="5307988"/>
                </a:lnTo>
                <a:lnTo>
                  <a:pt x="0" y="5307988"/>
                </a:lnTo>
                <a:lnTo>
                  <a:pt x="0" y="0"/>
                </a:lnTo>
                <a:close/>
              </a:path>
            </a:pathLst>
          </a:custGeom>
          <a:blipFill>
            <a:blip r:embed="rId3"/>
            <a:stretch>
              <a:fillRect/>
            </a:stretch>
          </a:blipFill>
        </p:spPr>
      </p:sp>
      <p:sp>
        <p:nvSpPr>
          <p:cNvPr id="4" name="Freeform 4"/>
          <p:cNvSpPr/>
          <p:nvPr/>
        </p:nvSpPr>
        <p:spPr>
          <a:xfrm rot="-889340">
            <a:off x="13935987" y="3501841"/>
            <a:ext cx="4526280" cy="8229600"/>
          </a:xfrm>
          <a:custGeom>
            <a:avLst/>
            <a:gdLst/>
            <a:ahLst/>
            <a:cxnLst/>
            <a:rect l="l" t="t" r="r" b="b"/>
            <a:pathLst>
              <a:path w="4526280" h="8229600">
                <a:moveTo>
                  <a:pt x="0" y="0"/>
                </a:moveTo>
                <a:lnTo>
                  <a:pt x="4526280" y="0"/>
                </a:lnTo>
                <a:lnTo>
                  <a:pt x="4526280" y="8229600"/>
                </a:lnTo>
                <a:lnTo>
                  <a:pt x="0" y="8229600"/>
                </a:lnTo>
                <a:lnTo>
                  <a:pt x="0" y="0"/>
                </a:lnTo>
                <a:close/>
              </a:path>
            </a:pathLst>
          </a:custGeom>
          <a:blipFill>
            <a:blip r:embed="rId4"/>
            <a:stretch>
              <a:fillRect/>
            </a:stretch>
          </a:blipFill>
        </p:spPr>
      </p:sp>
      <p:sp>
        <p:nvSpPr>
          <p:cNvPr id="5" name="Freeform 5"/>
          <p:cNvSpPr/>
          <p:nvPr/>
        </p:nvSpPr>
        <p:spPr>
          <a:xfrm rot="-4734906" flipH="1">
            <a:off x="-399434" y="-1386863"/>
            <a:ext cx="4662690" cy="3765122"/>
          </a:xfrm>
          <a:custGeom>
            <a:avLst/>
            <a:gdLst/>
            <a:ahLst/>
            <a:cxnLst/>
            <a:rect l="l" t="t" r="r" b="b"/>
            <a:pathLst>
              <a:path w="4662690" h="3765122">
                <a:moveTo>
                  <a:pt x="4662690" y="0"/>
                </a:moveTo>
                <a:lnTo>
                  <a:pt x="0" y="0"/>
                </a:lnTo>
                <a:lnTo>
                  <a:pt x="0" y="3765122"/>
                </a:lnTo>
                <a:lnTo>
                  <a:pt x="4662690" y="3765122"/>
                </a:lnTo>
                <a:lnTo>
                  <a:pt x="4662690" y="0"/>
                </a:lnTo>
                <a:close/>
              </a:path>
            </a:pathLst>
          </a:custGeom>
          <a:blipFill>
            <a:blip r:embed="rId5"/>
            <a:stretch>
              <a:fillRect/>
            </a:stretch>
          </a:blipFill>
        </p:spPr>
      </p:sp>
      <p:sp>
        <p:nvSpPr>
          <p:cNvPr id="6" name="Freeform 6"/>
          <p:cNvSpPr/>
          <p:nvPr/>
        </p:nvSpPr>
        <p:spPr>
          <a:xfrm rot="-567616">
            <a:off x="14410012" y="244111"/>
            <a:ext cx="3578229" cy="7346235"/>
          </a:xfrm>
          <a:custGeom>
            <a:avLst/>
            <a:gdLst/>
            <a:ahLst/>
            <a:cxnLst/>
            <a:rect l="l" t="t" r="r" b="b"/>
            <a:pathLst>
              <a:path w="3578229" h="7346235">
                <a:moveTo>
                  <a:pt x="0" y="0"/>
                </a:moveTo>
                <a:lnTo>
                  <a:pt x="3578229" y="0"/>
                </a:lnTo>
                <a:lnTo>
                  <a:pt x="3578229" y="7346235"/>
                </a:lnTo>
                <a:lnTo>
                  <a:pt x="0" y="7346235"/>
                </a:lnTo>
                <a:lnTo>
                  <a:pt x="0" y="0"/>
                </a:lnTo>
                <a:close/>
              </a:path>
            </a:pathLst>
          </a:custGeom>
          <a:blipFill>
            <a:blip r:embed="rId6"/>
            <a:stretch>
              <a:fillRect/>
            </a:stretch>
          </a:blipFill>
        </p:spPr>
      </p:sp>
      <p:sp>
        <p:nvSpPr>
          <p:cNvPr id="7" name="Freeform 7"/>
          <p:cNvSpPr/>
          <p:nvPr/>
        </p:nvSpPr>
        <p:spPr>
          <a:xfrm rot="-10045849">
            <a:off x="12016719" y="7282432"/>
            <a:ext cx="4657861" cy="4698977"/>
          </a:xfrm>
          <a:custGeom>
            <a:avLst/>
            <a:gdLst/>
            <a:ahLst/>
            <a:cxnLst/>
            <a:rect l="l" t="t" r="r" b="b"/>
            <a:pathLst>
              <a:path w="4657861" h="4698977">
                <a:moveTo>
                  <a:pt x="0" y="0"/>
                </a:moveTo>
                <a:lnTo>
                  <a:pt x="4657861" y="0"/>
                </a:lnTo>
                <a:lnTo>
                  <a:pt x="4657861" y="4698978"/>
                </a:lnTo>
                <a:lnTo>
                  <a:pt x="0" y="4698978"/>
                </a:lnTo>
                <a:lnTo>
                  <a:pt x="0" y="0"/>
                </a:lnTo>
                <a:close/>
              </a:path>
            </a:pathLst>
          </a:custGeom>
          <a:blipFill>
            <a:blip r:embed="rId3"/>
            <a:stretch>
              <a:fillRect/>
            </a:stretch>
          </a:blipFill>
        </p:spPr>
      </p:sp>
      <p:sp>
        <p:nvSpPr>
          <p:cNvPr id="8" name="Freeform 8"/>
          <p:cNvSpPr/>
          <p:nvPr/>
        </p:nvSpPr>
        <p:spPr>
          <a:xfrm rot="7709380" flipH="1">
            <a:off x="-1550054" y="3158805"/>
            <a:ext cx="3578229" cy="7346235"/>
          </a:xfrm>
          <a:custGeom>
            <a:avLst/>
            <a:gdLst/>
            <a:ahLst/>
            <a:cxnLst/>
            <a:rect l="l" t="t" r="r" b="b"/>
            <a:pathLst>
              <a:path w="3578229" h="7346235">
                <a:moveTo>
                  <a:pt x="3578229" y="0"/>
                </a:moveTo>
                <a:lnTo>
                  <a:pt x="0" y="0"/>
                </a:lnTo>
                <a:lnTo>
                  <a:pt x="0" y="7346236"/>
                </a:lnTo>
                <a:lnTo>
                  <a:pt x="3578229" y="7346236"/>
                </a:lnTo>
                <a:lnTo>
                  <a:pt x="3578229" y="0"/>
                </a:lnTo>
                <a:close/>
              </a:path>
            </a:pathLst>
          </a:custGeom>
          <a:blipFill>
            <a:blip r:embed="rId6"/>
            <a:stretch>
              <a:fillRect/>
            </a:stretch>
          </a:blipFill>
        </p:spPr>
      </p:sp>
      <p:sp>
        <p:nvSpPr>
          <p:cNvPr id="9" name="Freeform 9"/>
          <p:cNvSpPr/>
          <p:nvPr/>
        </p:nvSpPr>
        <p:spPr>
          <a:xfrm>
            <a:off x="3583930" y="1101012"/>
            <a:ext cx="1605499" cy="1605499"/>
          </a:xfrm>
          <a:custGeom>
            <a:avLst/>
            <a:gdLst/>
            <a:ahLst/>
            <a:cxnLst/>
            <a:rect l="l" t="t" r="r" b="b"/>
            <a:pathLst>
              <a:path w="1605499" h="1605499">
                <a:moveTo>
                  <a:pt x="0" y="0"/>
                </a:moveTo>
                <a:lnTo>
                  <a:pt x="1605499" y="0"/>
                </a:lnTo>
                <a:lnTo>
                  <a:pt x="1605499" y="1605498"/>
                </a:lnTo>
                <a:lnTo>
                  <a:pt x="0" y="160549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Freeform 10"/>
          <p:cNvSpPr/>
          <p:nvPr/>
        </p:nvSpPr>
        <p:spPr>
          <a:xfrm>
            <a:off x="14589727" y="7035307"/>
            <a:ext cx="1408932" cy="1408932"/>
          </a:xfrm>
          <a:custGeom>
            <a:avLst/>
            <a:gdLst/>
            <a:ahLst/>
            <a:cxnLst/>
            <a:rect l="l" t="t" r="r" b="b"/>
            <a:pathLst>
              <a:path w="1408932" h="1408932">
                <a:moveTo>
                  <a:pt x="0" y="0"/>
                </a:moveTo>
                <a:lnTo>
                  <a:pt x="1408933" y="0"/>
                </a:lnTo>
                <a:lnTo>
                  <a:pt x="1408933" y="1408932"/>
                </a:lnTo>
                <a:lnTo>
                  <a:pt x="0" y="140893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1" name="Freeform 11"/>
          <p:cNvSpPr/>
          <p:nvPr/>
        </p:nvSpPr>
        <p:spPr>
          <a:xfrm>
            <a:off x="15998660" y="6516801"/>
            <a:ext cx="630244" cy="630244"/>
          </a:xfrm>
          <a:custGeom>
            <a:avLst/>
            <a:gdLst/>
            <a:ahLst/>
            <a:cxnLst/>
            <a:rect l="l" t="t" r="r" b="b"/>
            <a:pathLst>
              <a:path w="630244" h="630244">
                <a:moveTo>
                  <a:pt x="0" y="0"/>
                </a:moveTo>
                <a:lnTo>
                  <a:pt x="630243" y="0"/>
                </a:lnTo>
                <a:lnTo>
                  <a:pt x="630243" y="630244"/>
                </a:lnTo>
                <a:lnTo>
                  <a:pt x="0" y="63024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2" name="Freeform 12"/>
          <p:cNvSpPr/>
          <p:nvPr/>
        </p:nvSpPr>
        <p:spPr>
          <a:xfrm>
            <a:off x="3246042" y="728391"/>
            <a:ext cx="675776" cy="675776"/>
          </a:xfrm>
          <a:custGeom>
            <a:avLst/>
            <a:gdLst/>
            <a:ahLst/>
            <a:cxnLst/>
            <a:rect l="l" t="t" r="r" b="b"/>
            <a:pathLst>
              <a:path w="675776" h="675776">
                <a:moveTo>
                  <a:pt x="0" y="0"/>
                </a:moveTo>
                <a:lnTo>
                  <a:pt x="675777" y="0"/>
                </a:lnTo>
                <a:lnTo>
                  <a:pt x="675777" y="675777"/>
                </a:lnTo>
                <a:lnTo>
                  <a:pt x="0" y="67577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3" name="Freeform 13"/>
          <p:cNvSpPr/>
          <p:nvPr/>
        </p:nvSpPr>
        <p:spPr>
          <a:xfrm rot="78754">
            <a:off x="8755160" y="244176"/>
            <a:ext cx="4176366" cy="2414817"/>
          </a:xfrm>
          <a:custGeom>
            <a:avLst/>
            <a:gdLst/>
            <a:ahLst/>
            <a:cxnLst/>
            <a:rect l="l" t="t" r="r" b="b"/>
            <a:pathLst>
              <a:path w="4176366" h="2414817">
                <a:moveTo>
                  <a:pt x="0" y="0"/>
                </a:moveTo>
                <a:lnTo>
                  <a:pt x="4176366" y="0"/>
                </a:lnTo>
                <a:lnTo>
                  <a:pt x="4176366" y="2414817"/>
                </a:lnTo>
                <a:lnTo>
                  <a:pt x="0" y="2414817"/>
                </a:lnTo>
                <a:lnTo>
                  <a:pt x="0" y="0"/>
                </a:lnTo>
                <a:close/>
              </a:path>
            </a:pathLst>
          </a:custGeom>
          <a:blipFill>
            <a:blip r:embed="rId11"/>
            <a:stretch>
              <a:fillRect b="-51329"/>
            </a:stretch>
          </a:blipFill>
        </p:spPr>
      </p:sp>
      <p:sp>
        <p:nvSpPr>
          <p:cNvPr id="14" name="Freeform 14"/>
          <p:cNvSpPr/>
          <p:nvPr/>
        </p:nvSpPr>
        <p:spPr>
          <a:xfrm rot="918506" flipV="1">
            <a:off x="3513659" y="7904932"/>
            <a:ext cx="4567819" cy="2641159"/>
          </a:xfrm>
          <a:custGeom>
            <a:avLst/>
            <a:gdLst/>
            <a:ahLst/>
            <a:cxnLst/>
            <a:rect l="l" t="t" r="r" b="b"/>
            <a:pathLst>
              <a:path w="4567819" h="2641159">
                <a:moveTo>
                  <a:pt x="0" y="2641159"/>
                </a:moveTo>
                <a:lnTo>
                  <a:pt x="4567818" y="2641159"/>
                </a:lnTo>
                <a:lnTo>
                  <a:pt x="4567818" y="0"/>
                </a:lnTo>
                <a:lnTo>
                  <a:pt x="0" y="0"/>
                </a:lnTo>
                <a:lnTo>
                  <a:pt x="0" y="2641159"/>
                </a:lnTo>
                <a:close/>
              </a:path>
            </a:pathLst>
          </a:custGeom>
          <a:blipFill>
            <a:blip r:embed="rId11"/>
            <a:stretch>
              <a:fillRect b="-51329"/>
            </a:stretch>
          </a:blipFill>
        </p:spPr>
      </p:sp>
      <p:sp>
        <p:nvSpPr>
          <p:cNvPr id="15" name="TextBox 15"/>
          <p:cNvSpPr txBox="1"/>
          <p:nvPr/>
        </p:nvSpPr>
        <p:spPr>
          <a:xfrm>
            <a:off x="4121397" y="3173235"/>
            <a:ext cx="10045205" cy="3380023"/>
          </a:xfrm>
          <a:prstGeom prst="rect">
            <a:avLst/>
          </a:prstGeom>
        </p:spPr>
        <p:txBody>
          <a:bodyPr lIns="0" tIns="0" rIns="0" bIns="0" rtlCol="0" anchor="t">
            <a:spAutoFit/>
          </a:bodyPr>
          <a:lstStyle/>
          <a:p>
            <a:pPr algn="ctr">
              <a:lnSpc>
                <a:spcPts val="13093"/>
              </a:lnSpc>
            </a:pPr>
            <a:r>
              <a:rPr lang="en-US" sz="12589" b="1">
                <a:solidFill>
                  <a:srgbClr val="FFFFFF"/>
                </a:solidFill>
                <a:latin typeface="Playpen Sans Bold"/>
                <a:ea typeface="Playpen Sans Bold"/>
                <a:cs typeface="Playpen Sans Bold"/>
                <a:sym typeface="Playpen Sans Bold"/>
              </a:rPr>
              <a:t>Terima Kasih</a:t>
            </a:r>
          </a:p>
        </p:txBody>
      </p:sp>
      <p:sp>
        <p:nvSpPr>
          <p:cNvPr id="16" name="TextBox 16"/>
          <p:cNvSpPr txBox="1"/>
          <p:nvPr/>
        </p:nvSpPr>
        <p:spPr>
          <a:xfrm>
            <a:off x="6726757" y="7100012"/>
            <a:ext cx="4834487" cy="516629"/>
          </a:xfrm>
          <a:prstGeom prst="rect">
            <a:avLst/>
          </a:prstGeom>
        </p:spPr>
        <p:txBody>
          <a:bodyPr lIns="0" tIns="0" rIns="0" bIns="0" rtlCol="0" anchor="t">
            <a:spAutoFit/>
          </a:bodyPr>
          <a:lstStyle/>
          <a:p>
            <a:pPr algn="ctr">
              <a:lnSpc>
                <a:spcPts val="4047"/>
              </a:lnSpc>
            </a:pPr>
            <a:r>
              <a:rPr lang="en-US" sz="3519" b="1">
                <a:solidFill>
                  <a:srgbClr val="00436E"/>
                </a:solidFill>
                <a:latin typeface="Playpen Sans Bold"/>
                <a:ea typeface="Playpen Sans Bold"/>
                <a:cs typeface="Playpen Sans Bold"/>
                <a:sym typeface="Playpen Sans Bold"/>
              </a:rPr>
              <a:t>Semoga Bermanfaat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1185</Words>
  <Application>Microsoft Office PowerPoint</Application>
  <PresentationFormat>Custom</PresentationFormat>
  <Paragraphs>94</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Open Sans</vt:lpstr>
      <vt:lpstr>Arial</vt:lpstr>
      <vt:lpstr>Calibri</vt:lpstr>
      <vt:lpstr>Playpen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Tugas UTS</dc:title>
  <dc:creator>Muh Said Eriyanto</dc:creator>
  <cp:lastModifiedBy>Muh Said Eriyanto</cp:lastModifiedBy>
  <cp:revision>2</cp:revision>
  <dcterms:created xsi:type="dcterms:W3CDTF">2006-08-16T00:00:00Z</dcterms:created>
  <dcterms:modified xsi:type="dcterms:W3CDTF">2024-11-12T05:04:01Z</dcterms:modified>
  <dc:identifier>DAGWPA7-WUs</dc:identifier>
</cp:coreProperties>
</file>